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70" d="100"/>
          <a:sy n="70" d="100"/>
        </p:scale>
        <p:origin x="73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EDD9A6CE-87BB-459D-8546-BBF77A771E8E}" type="datetimeFigureOut">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06BB78-D751-491B-A115-808FD60E1A4E}" type="slidenum">
              <a:rPr lang="en-IN" smtClean="0"/>
              <a:t>‹#›</a:t>
            </a:fld>
            <a:endParaRPr lang="en-IN"/>
          </a:p>
        </p:txBody>
      </p:sp>
    </p:spTree>
    <p:extLst>
      <p:ext uri="{BB962C8B-B14F-4D97-AF65-F5344CB8AC3E}">
        <p14:creationId xmlns:p14="http://schemas.microsoft.com/office/powerpoint/2010/main" val="232211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DD9A6CE-87BB-459D-8546-BBF77A771E8E}" type="datetimeFigureOut">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06BB78-D751-491B-A115-808FD60E1A4E}" type="slidenum">
              <a:rPr lang="en-IN" smtClean="0"/>
              <a:t>‹#›</a:t>
            </a:fld>
            <a:endParaRPr lang="en-IN"/>
          </a:p>
        </p:txBody>
      </p:sp>
    </p:spTree>
    <p:extLst>
      <p:ext uri="{BB962C8B-B14F-4D97-AF65-F5344CB8AC3E}">
        <p14:creationId xmlns:p14="http://schemas.microsoft.com/office/powerpoint/2010/main" val="5480274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DD9A6CE-87BB-459D-8546-BBF77A771E8E}" type="datetimeFigureOut">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06BB78-D751-491B-A115-808FD60E1A4E}" type="slidenum">
              <a:rPr lang="en-IN" smtClean="0"/>
              <a:t>‹#›</a:t>
            </a:fld>
            <a:endParaRPr lang="en-IN"/>
          </a:p>
        </p:txBody>
      </p:sp>
    </p:spTree>
    <p:extLst>
      <p:ext uri="{BB962C8B-B14F-4D97-AF65-F5344CB8AC3E}">
        <p14:creationId xmlns:p14="http://schemas.microsoft.com/office/powerpoint/2010/main" val="2488911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EDD9A6CE-87BB-459D-8546-BBF77A771E8E}" type="datetimeFigureOut">
              <a:rPr lang="en-IN" smtClean="0"/>
              <a:t>05-08-2026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06BB78-D751-491B-A115-808FD60E1A4E}" type="slidenum">
              <a:rPr lang="en-IN" smtClean="0"/>
              <a:t>‹#›</a:t>
            </a:fld>
            <a:endParaRPr lang="en-IN"/>
          </a:p>
        </p:txBody>
      </p:sp>
    </p:spTree>
    <p:extLst>
      <p:ext uri="{BB962C8B-B14F-4D97-AF65-F5344CB8AC3E}">
        <p14:creationId xmlns:p14="http://schemas.microsoft.com/office/powerpoint/2010/main" val="3979167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EDD9A6CE-87BB-459D-8546-BBF77A771E8E}" type="datetimeFigureOut">
              <a:rPr lang="en-IN" smtClean="0"/>
              <a:t>05-08-2026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806BB78-D751-491B-A115-808FD60E1A4E}" type="slidenum">
              <a:rPr lang="en-IN" smtClean="0"/>
              <a:t>‹#›</a:t>
            </a:fld>
            <a:endParaRPr lang="en-IN"/>
          </a:p>
        </p:txBody>
      </p:sp>
    </p:spTree>
    <p:extLst>
      <p:ext uri="{BB962C8B-B14F-4D97-AF65-F5344CB8AC3E}">
        <p14:creationId xmlns:p14="http://schemas.microsoft.com/office/powerpoint/2010/main" val="2333295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EDD9A6CE-87BB-459D-8546-BBF77A771E8E}" type="datetimeFigureOut">
              <a:rPr lang="en-IN" smtClean="0"/>
              <a:t>05-08-2026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806BB78-D751-491B-A115-808FD60E1A4E}" type="slidenum">
              <a:rPr lang="en-IN" smtClean="0"/>
              <a:t>‹#›</a:t>
            </a:fld>
            <a:endParaRPr lang="en-IN"/>
          </a:p>
        </p:txBody>
      </p:sp>
    </p:spTree>
    <p:extLst>
      <p:ext uri="{BB962C8B-B14F-4D97-AF65-F5344CB8AC3E}">
        <p14:creationId xmlns:p14="http://schemas.microsoft.com/office/powerpoint/2010/main" val="630676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D9A6CE-87BB-459D-8546-BBF77A771E8E}" type="datetimeFigureOut">
              <a:rPr lang="en-IN" smtClean="0"/>
              <a:t>05-08-2026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806BB78-D751-491B-A115-808FD60E1A4E}" type="slidenum">
              <a:rPr lang="en-IN" smtClean="0"/>
              <a:t>‹#›</a:t>
            </a:fld>
            <a:endParaRPr lang="en-IN"/>
          </a:p>
        </p:txBody>
      </p:sp>
    </p:spTree>
    <p:extLst>
      <p:ext uri="{BB962C8B-B14F-4D97-AF65-F5344CB8AC3E}">
        <p14:creationId xmlns:p14="http://schemas.microsoft.com/office/powerpoint/2010/main" val="534670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D9A6CE-87BB-459D-8546-BBF77A771E8E}" type="datetimeFigureOut">
              <a:rPr lang="en-IN" smtClean="0"/>
              <a:t>05-08-2026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06BB78-D751-491B-A115-808FD60E1A4E}" type="slidenum">
              <a:rPr lang="en-IN" smtClean="0"/>
              <a:t>‹#›</a:t>
            </a:fld>
            <a:endParaRPr lang="en-IN"/>
          </a:p>
        </p:txBody>
      </p:sp>
    </p:spTree>
    <p:extLst>
      <p:ext uri="{BB962C8B-B14F-4D97-AF65-F5344CB8AC3E}">
        <p14:creationId xmlns:p14="http://schemas.microsoft.com/office/powerpoint/2010/main" val="1328979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D9A6CE-87BB-459D-8546-BBF77A771E8E}" type="datetimeFigureOut">
              <a:rPr lang="en-IN" smtClean="0"/>
              <a:t>05-08-2026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806BB78-D751-491B-A115-808FD60E1A4E}" type="slidenum">
              <a:rPr lang="en-IN" smtClean="0"/>
              <a:t>‹#›</a:t>
            </a:fld>
            <a:endParaRPr lang="en-IN"/>
          </a:p>
        </p:txBody>
      </p:sp>
    </p:spTree>
    <p:extLst>
      <p:ext uri="{BB962C8B-B14F-4D97-AF65-F5344CB8AC3E}">
        <p14:creationId xmlns:p14="http://schemas.microsoft.com/office/powerpoint/2010/main" val="947900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DD9A6CE-87BB-459D-8546-BBF77A771E8E}" type="datetimeFigureOut">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06BB78-D751-491B-A115-808FD60E1A4E}" type="slidenum">
              <a:rPr lang="en-IN" smtClean="0"/>
              <a:t>‹#›</a:t>
            </a:fld>
            <a:endParaRPr lang="en-IN"/>
          </a:p>
        </p:txBody>
      </p:sp>
    </p:spTree>
    <p:extLst>
      <p:ext uri="{BB962C8B-B14F-4D97-AF65-F5344CB8AC3E}">
        <p14:creationId xmlns:p14="http://schemas.microsoft.com/office/powerpoint/2010/main" val="3378261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EDD9A6CE-87BB-459D-8546-BBF77A771E8E}" type="datetimeFigureOut">
              <a:rPr lang="en-IN" smtClean="0"/>
              <a:t>05-08-2026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806BB78-D751-491B-A115-808FD60E1A4E}" type="slidenum">
              <a:rPr lang="en-IN" smtClean="0"/>
              <a:t>‹#›</a:t>
            </a:fld>
            <a:endParaRPr lang="en-IN"/>
          </a:p>
        </p:txBody>
      </p:sp>
    </p:spTree>
    <p:extLst>
      <p:ext uri="{BB962C8B-B14F-4D97-AF65-F5344CB8AC3E}">
        <p14:creationId xmlns:p14="http://schemas.microsoft.com/office/powerpoint/2010/main" val="1068922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D9A6CE-87BB-459D-8546-BBF77A771E8E}" type="datetimeFigureOut">
              <a:rPr lang="en-IN" smtClean="0"/>
              <a:t>05-08-2026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06BB78-D751-491B-A115-808FD60E1A4E}" type="slidenum">
              <a:rPr lang="en-IN" smtClean="0"/>
              <a:t>‹#›</a:t>
            </a:fld>
            <a:endParaRPr lang="en-IN"/>
          </a:p>
        </p:txBody>
      </p:sp>
    </p:spTree>
    <p:extLst>
      <p:ext uri="{BB962C8B-B14F-4D97-AF65-F5344CB8AC3E}">
        <p14:creationId xmlns:p14="http://schemas.microsoft.com/office/powerpoint/2010/main" val="7799258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98879" y="669703"/>
            <a:ext cx="7006106" cy="1477328"/>
          </a:xfrm>
          <a:prstGeom prst="rect">
            <a:avLst/>
          </a:prstGeom>
          <a:noFill/>
        </p:spPr>
        <p:txBody>
          <a:bodyPr wrap="square" rtlCol="0">
            <a:spAutoFit/>
          </a:bodyPr>
          <a:lstStyle/>
          <a:p>
            <a:pPr algn="ctr"/>
            <a:r>
              <a:rPr lang="en-US" sz="3000" b="1" dirty="0" smtClean="0">
                <a:solidFill>
                  <a:schemeClr val="accent5">
                    <a:lumMod val="50000"/>
                  </a:schemeClr>
                </a:solidFill>
              </a:rPr>
              <a:t>Industrial Equipment Monitoring Platform</a:t>
            </a:r>
            <a:br>
              <a:rPr lang="en-US" sz="3000" b="1" dirty="0" smtClean="0">
                <a:solidFill>
                  <a:schemeClr val="accent5">
                    <a:lumMod val="50000"/>
                  </a:schemeClr>
                </a:solidFill>
              </a:rPr>
            </a:br>
            <a:endParaRPr lang="en-US" sz="3000" b="1" dirty="0" smtClean="0">
              <a:solidFill>
                <a:schemeClr val="accent5">
                  <a:lumMod val="50000"/>
                </a:schemeClr>
              </a:solidFill>
            </a:endParaRPr>
          </a:p>
          <a:p>
            <a:pPr algn="ctr"/>
            <a:r>
              <a:rPr lang="en-US" sz="3000" b="1" dirty="0" smtClean="0">
                <a:solidFill>
                  <a:schemeClr val="accent5">
                    <a:lumMod val="50000"/>
                  </a:schemeClr>
                </a:solidFill>
              </a:rPr>
              <a:t>Data Science &amp; Scoring Layer Design</a:t>
            </a:r>
            <a:endParaRPr lang="en-IN" sz="3000" b="1" dirty="0">
              <a:solidFill>
                <a:schemeClr val="accent5">
                  <a:lumMod val="50000"/>
                </a:schemeClr>
              </a:solidFill>
            </a:endParaRPr>
          </a:p>
        </p:txBody>
      </p:sp>
      <p:sp>
        <p:nvSpPr>
          <p:cNvPr id="9" name="TextBox 8"/>
          <p:cNvSpPr txBox="1"/>
          <p:nvPr/>
        </p:nvSpPr>
        <p:spPr>
          <a:xfrm>
            <a:off x="3580327" y="2305319"/>
            <a:ext cx="3812146" cy="1569660"/>
          </a:xfrm>
          <a:prstGeom prst="rect">
            <a:avLst/>
          </a:prstGeom>
          <a:noFill/>
        </p:spPr>
        <p:txBody>
          <a:bodyPr wrap="square" rtlCol="0">
            <a:spAutoFit/>
          </a:bodyPr>
          <a:lstStyle/>
          <a:p>
            <a:r>
              <a:rPr lang="en-US" dirty="0" smtClean="0"/>
              <a:t/>
            </a:r>
            <a:br>
              <a:rPr lang="en-US" dirty="0" smtClean="0"/>
            </a:br>
            <a:r>
              <a:rPr lang="en-US" dirty="0" smtClean="0"/>
              <a:t>            </a:t>
            </a:r>
            <a:r>
              <a:rPr lang="en-US" sz="2000" dirty="0" smtClean="0"/>
              <a:t>Technical Assessment</a:t>
            </a:r>
            <a:br>
              <a:rPr lang="en-US" sz="2000" dirty="0" smtClean="0"/>
            </a:br>
            <a:endParaRPr lang="en-US" sz="2000" dirty="0" smtClean="0"/>
          </a:p>
          <a:p>
            <a:pPr algn="ctr"/>
            <a:r>
              <a:rPr lang="en-US" sz="2000" b="1" dirty="0" err="1" smtClean="0"/>
              <a:t>Aurik</a:t>
            </a:r>
            <a:r>
              <a:rPr lang="en-US" sz="2000" b="1" dirty="0" smtClean="0"/>
              <a:t> Technologies</a:t>
            </a:r>
          </a:p>
          <a:p>
            <a:endParaRPr lang="en-US" dirty="0" smtClean="0">
              <a:solidFill>
                <a:schemeClr val="bg2">
                  <a:lumMod val="25000"/>
                </a:schemeClr>
              </a:solidFill>
            </a:endParaRPr>
          </a:p>
        </p:txBody>
      </p:sp>
      <p:sp>
        <p:nvSpPr>
          <p:cNvPr id="10" name="TextBox 9"/>
          <p:cNvSpPr txBox="1"/>
          <p:nvPr/>
        </p:nvSpPr>
        <p:spPr>
          <a:xfrm>
            <a:off x="0" y="5842337"/>
            <a:ext cx="2176529" cy="923330"/>
          </a:xfrm>
          <a:prstGeom prst="rect">
            <a:avLst/>
          </a:prstGeom>
          <a:noFill/>
        </p:spPr>
        <p:txBody>
          <a:bodyPr wrap="square" rtlCol="0">
            <a:spAutoFit/>
          </a:bodyPr>
          <a:lstStyle/>
          <a:p>
            <a:r>
              <a:rPr lang="en-US" dirty="0" smtClean="0"/>
              <a:t>Prepared By</a:t>
            </a:r>
            <a:br>
              <a:rPr lang="en-US" dirty="0" smtClean="0"/>
            </a:br>
            <a:endParaRPr lang="en-US" dirty="0" smtClean="0"/>
          </a:p>
          <a:p>
            <a:r>
              <a:rPr lang="en-US" b="1" dirty="0" err="1" smtClean="0"/>
              <a:t>Anushree</a:t>
            </a:r>
            <a:r>
              <a:rPr lang="en-US" b="1" dirty="0" smtClean="0"/>
              <a:t> </a:t>
            </a:r>
            <a:r>
              <a:rPr lang="en-US" b="1" dirty="0" err="1" smtClean="0"/>
              <a:t>Kalbandhe</a:t>
            </a:r>
            <a:endParaRPr lang="en-IN" b="1" dirty="0"/>
          </a:p>
        </p:txBody>
      </p:sp>
      <p:sp>
        <p:nvSpPr>
          <p:cNvPr id="12" name="TextBox 11"/>
          <p:cNvSpPr txBox="1"/>
          <p:nvPr/>
        </p:nvSpPr>
        <p:spPr>
          <a:xfrm>
            <a:off x="9835166" y="6327579"/>
            <a:ext cx="2356834" cy="530421"/>
          </a:xfrm>
          <a:prstGeom prst="rect">
            <a:avLst/>
          </a:prstGeom>
          <a:noFill/>
        </p:spPr>
        <p:txBody>
          <a:bodyPr wrap="square" rtlCol="0">
            <a:spAutoFit/>
          </a:bodyPr>
          <a:lstStyle/>
          <a:p>
            <a:endParaRPr lang="en-IN" dirty="0"/>
          </a:p>
        </p:txBody>
      </p:sp>
      <p:sp>
        <p:nvSpPr>
          <p:cNvPr id="14" name="TextBox 13"/>
          <p:cNvSpPr txBox="1"/>
          <p:nvPr/>
        </p:nvSpPr>
        <p:spPr>
          <a:xfrm>
            <a:off x="10547796" y="6488668"/>
            <a:ext cx="1493950" cy="369332"/>
          </a:xfrm>
          <a:prstGeom prst="rect">
            <a:avLst/>
          </a:prstGeom>
          <a:noFill/>
        </p:spPr>
        <p:txBody>
          <a:bodyPr wrap="square" rtlCol="0">
            <a:spAutoFit/>
          </a:bodyPr>
          <a:lstStyle/>
          <a:p>
            <a:r>
              <a:rPr lang="en-IN" dirty="0" smtClean="0"/>
              <a:t>August 2026</a:t>
            </a:r>
            <a:endParaRPr lang="en-IN" dirty="0"/>
          </a:p>
        </p:txBody>
      </p:sp>
    </p:spTree>
    <p:extLst>
      <p:ext uri="{BB962C8B-B14F-4D97-AF65-F5344CB8AC3E}">
        <p14:creationId xmlns:p14="http://schemas.microsoft.com/office/powerpoint/2010/main" val="428951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0" y="0"/>
            <a:ext cx="4658932" cy="652306"/>
          </a:xfrm>
        </p:spPr>
        <p:txBody>
          <a:bodyPr>
            <a:noAutofit/>
          </a:bodyPr>
          <a:lstStyle/>
          <a:p>
            <a:r>
              <a:rPr lang="en-IN" sz="2400" b="1" dirty="0" smtClean="0">
                <a:solidFill>
                  <a:schemeClr val="accent5">
                    <a:lumMod val="50000"/>
                  </a:schemeClr>
                </a:solidFill>
                <a:latin typeface="+mn-lt"/>
              </a:rPr>
              <a:t>Problem Statement &amp; Objectives</a:t>
            </a:r>
            <a:endParaRPr lang="en-IN" sz="2400" b="1" dirty="0">
              <a:solidFill>
                <a:schemeClr val="accent5">
                  <a:lumMod val="50000"/>
                </a:schemeClr>
              </a:solidFill>
              <a:latin typeface="+mn-lt"/>
            </a:endParaRPr>
          </a:p>
        </p:txBody>
      </p:sp>
      <p:sp>
        <p:nvSpPr>
          <p:cNvPr id="3" name="Content Placeholder 2"/>
          <p:cNvSpPr>
            <a:spLocks noGrp="1"/>
          </p:cNvSpPr>
          <p:nvPr>
            <p:ph sz="half" idx="1"/>
          </p:nvPr>
        </p:nvSpPr>
        <p:spPr>
          <a:xfrm>
            <a:off x="838200" y="856110"/>
            <a:ext cx="5181600" cy="5186340"/>
          </a:xfrm>
        </p:spPr>
        <p:txBody>
          <a:bodyPr>
            <a:normAutofit lnSpcReduction="10000"/>
          </a:bodyPr>
          <a:lstStyle/>
          <a:p>
            <a:pPr marL="0" indent="0">
              <a:buNone/>
            </a:pPr>
            <a:r>
              <a:rPr lang="en-US" sz="1800" b="1" dirty="0" smtClean="0"/>
              <a:t>Problem Statement</a:t>
            </a:r>
          </a:p>
          <a:p>
            <a:pPr marL="0" indent="0">
              <a:buNone/>
            </a:pPr>
            <a:r>
              <a:rPr lang="en-US" sz="1800" dirty="0" smtClean="0"/>
              <a:t>Multiple industrial equipment vendors generate machine-level data in different schemas, timestamp formats, machine identifiers, and measurement units. </a:t>
            </a:r>
            <a:br>
              <a:rPr lang="en-US" sz="1800" dirty="0" smtClean="0"/>
            </a:br>
            <a:r>
              <a:rPr lang="en-US" sz="1800" dirty="0" smtClean="0"/>
              <a:t/>
            </a:r>
            <a:br>
              <a:rPr lang="en-US" sz="1800" dirty="0" smtClean="0"/>
            </a:br>
            <a:r>
              <a:rPr lang="en-US" sz="1800" dirty="0" smtClean="0"/>
              <a:t>The objective is to build a unified machine-level data platform that validates, normalizes, scores, and exposes trusted equipment insights through backend APIs.</a:t>
            </a:r>
          </a:p>
          <a:p>
            <a:pPr marL="0" indent="0">
              <a:buNone/>
            </a:pPr>
            <a:r>
              <a:rPr lang="en-US" sz="1800" b="1" dirty="0" smtClean="0"/>
              <a:t/>
            </a:r>
            <a:br>
              <a:rPr lang="en-US" sz="1800" b="1" dirty="0" smtClean="0"/>
            </a:br>
            <a:r>
              <a:rPr lang="en-US" sz="1800" b="1" dirty="0" smtClean="0"/>
              <a:t>Key Challenges</a:t>
            </a:r>
            <a:endParaRPr lang="en-US" sz="1800" dirty="0" smtClean="0"/>
          </a:p>
          <a:p>
            <a:r>
              <a:rPr lang="en-US" sz="1800" dirty="0" smtClean="0"/>
              <a:t>Different vendor schemas </a:t>
            </a:r>
          </a:p>
          <a:p>
            <a:r>
              <a:rPr lang="en-US" sz="1800" dirty="0" smtClean="0"/>
              <a:t>Different machine identifiers </a:t>
            </a:r>
          </a:p>
          <a:p>
            <a:r>
              <a:rPr lang="en-US" sz="1800" dirty="0" smtClean="0"/>
              <a:t>Different timestamp formats </a:t>
            </a:r>
          </a:p>
          <a:p>
            <a:r>
              <a:rPr lang="en-US" sz="1800" dirty="0" smtClean="0"/>
              <a:t>Different measurement units </a:t>
            </a:r>
          </a:p>
          <a:p>
            <a:r>
              <a:rPr lang="en-US" sz="1800" dirty="0" smtClean="0"/>
              <a:t>Missing and inconsistent values</a:t>
            </a:r>
          </a:p>
          <a:p>
            <a:r>
              <a:rPr lang="en-US" sz="1800" dirty="0" smtClean="0"/>
              <a:t>Conflicting sensor readings across vendors</a:t>
            </a:r>
            <a:endParaRPr lang="en-US" sz="1900" dirty="0" smtClean="0"/>
          </a:p>
          <a:p>
            <a:endParaRPr lang="en-IN" dirty="0"/>
          </a:p>
        </p:txBody>
      </p:sp>
      <p:sp>
        <p:nvSpPr>
          <p:cNvPr id="4" name="Content Placeholder 3"/>
          <p:cNvSpPr>
            <a:spLocks noGrp="1"/>
          </p:cNvSpPr>
          <p:nvPr>
            <p:ph sz="half" idx="2"/>
          </p:nvPr>
        </p:nvSpPr>
        <p:spPr>
          <a:xfrm>
            <a:off x="6261279" y="856109"/>
            <a:ext cx="5181600" cy="4668927"/>
          </a:xfrm>
        </p:spPr>
        <p:txBody>
          <a:bodyPr>
            <a:noAutofit/>
          </a:bodyPr>
          <a:lstStyle/>
          <a:p>
            <a:pPr marL="0" indent="0">
              <a:lnSpc>
                <a:spcPct val="100000"/>
              </a:lnSpc>
              <a:spcBef>
                <a:spcPts val="0"/>
              </a:spcBef>
              <a:buNone/>
            </a:pPr>
            <a:r>
              <a:rPr lang="en-IN" sz="1800" b="1" dirty="0" smtClean="0"/>
              <a:t>Objectives</a:t>
            </a:r>
            <a:br>
              <a:rPr lang="en-IN" sz="1800" b="1" dirty="0" smtClean="0"/>
            </a:br>
            <a:r>
              <a:rPr lang="en-US" sz="1800" dirty="0" smtClean="0"/>
              <a:t/>
            </a:r>
            <a:br>
              <a:rPr lang="en-US" sz="1800" dirty="0" smtClean="0"/>
            </a:br>
            <a:r>
              <a:rPr lang="en-US" sz="1800" dirty="0" smtClean="0"/>
              <a:t>• Data Integration – Integrate data from multiple vendor APIs.</a:t>
            </a:r>
          </a:p>
          <a:p>
            <a:pPr marL="0" indent="0">
              <a:lnSpc>
                <a:spcPct val="100000"/>
              </a:lnSpc>
              <a:spcBef>
                <a:spcPts val="0"/>
              </a:spcBef>
              <a:buNone/>
            </a:pPr>
            <a:r>
              <a:rPr lang="en-US" sz="1800" dirty="0" smtClean="0"/>
              <a:t>• Data Normalization – Standardize schemas, timestamps, and measurement units.</a:t>
            </a:r>
          </a:p>
          <a:p>
            <a:pPr marL="0" indent="0">
              <a:lnSpc>
                <a:spcPct val="100000"/>
              </a:lnSpc>
              <a:spcBef>
                <a:spcPts val="0"/>
              </a:spcBef>
              <a:buNone/>
            </a:pPr>
            <a:r>
              <a:rPr lang="en-US" sz="1800" dirty="0" smtClean="0"/>
              <a:t>• Machine Health Score – Generate explainable machine health indicators.</a:t>
            </a:r>
          </a:p>
          <a:p>
            <a:pPr marL="0" indent="0">
              <a:lnSpc>
                <a:spcPct val="100000"/>
              </a:lnSpc>
              <a:spcBef>
                <a:spcPts val="0"/>
              </a:spcBef>
              <a:buNone/>
            </a:pPr>
            <a:r>
              <a:rPr lang="en-US" sz="1800" dirty="0" smtClean="0"/>
              <a:t>• Confidence &amp; Readiness Scores – Measure prediction reliability and data sufficiency.</a:t>
            </a:r>
          </a:p>
          <a:p>
            <a:pPr marL="0" indent="0">
              <a:lnSpc>
                <a:spcPct val="100000"/>
              </a:lnSpc>
              <a:spcBef>
                <a:spcPts val="0"/>
              </a:spcBef>
              <a:buNone/>
            </a:pPr>
            <a:r>
              <a:rPr lang="en-US" sz="1800" dirty="0" smtClean="0"/>
              <a:t>• Backend APIs – Expose machine and plant insights for downstream systems.</a:t>
            </a:r>
          </a:p>
          <a:p>
            <a:pPr marL="0" indent="0">
              <a:lnSpc>
                <a:spcPct val="100000"/>
              </a:lnSpc>
              <a:spcBef>
                <a:spcPts val="0"/>
              </a:spcBef>
              <a:buNone/>
            </a:pPr>
            <a:r>
              <a:rPr lang="en-US" sz="1800" dirty="0" smtClean="0"/>
              <a:t>• Future ML – Enable predictive maintenance and Remaining Useful Life (RUL) prediction.</a:t>
            </a:r>
          </a:p>
        </p:txBody>
      </p:sp>
    </p:spTree>
    <p:extLst>
      <p:ext uri="{BB962C8B-B14F-4D97-AF65-F5344CB8AC3E}">
        <p14:creationId xmlns:p14="http://schemas.microsoft.com/office/powerpoint/2010/main" val="2084854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2130" y="107547"/>
            <a:ext cx="10071278" cy="1448298"/>
          </a:xfrm>
        </p:spPr>
        <p:txBody>
          <a:bodyPr>
            <a:normAutofit fontScale="90000"/>
          </a:bodyPr>
          <a:lstStyle/>
          <a:p>
            <a:r>
              <a:rPr lang="en-IN" sz="2400" b="1" dirty="0" smtClean="0">
                <a:solidFill>
                  <a:schemeClr val="accent5">
                    <a:lumMod val="50000"/>
                  </a:schemeClr>
                </a:solidFill>
              </a:rPr>
              <a:t>                                                 </a:t>
            </a:r>
            <a:r>
              <a:rPr lang="en-IN" sz="2700" b="1" dirty="0" smtClean="0">
                <a:solidFill>
                  <a:schemeClr val="accent5">
                    <a:lumMod val="50000"/>
                  </a:schemeClr>
                </a:solidFill>
              </a:rPr>
              <a:t>Vendor Data Assessment</a:t>
            </a:r>
            <a:r>
              <a:rPr lang="en-IN" sz="2400" b="1" dirty="0" smtClean="0">
                <a:solidFill>
                  <a:schemeClr val="accent5">
                    <a:lumMod val="50000"/>
                  </a:schemeClr>
                </a:solidFill>
              </a:rPr>
              <a:t/>
            </a:r>
            <a:br>
              <a:rPr lang="en-IN" sz="2400" b="1" dirty="0" smtClean="0">
                <a:solidFill>
                  <a:schemeClr val="accent5">
                    <a:lumMod val="50000"/>
                  </a:schemeClr>
                </a:solidFill>
              </a:rPr>
            </a:br>
            <a:r>
              <a:rPr lang="en-IN" sz="2400" b="1" dirty="0" smtClean="0">
                <a:solidFill>
                  <a:schemeClr val="accent5">
                    <a:lumMod val="50000"/>
                  </a:schemeClr>
                </a:solidFill>
              </a:rPr>
              <a:t/>
            </a:r>
            <a:br>
              <a:rPr lang="en-IN" sz="2400" b="1" dirty="0" smtClean="0">
                <a:solidFill>
                  <a:schemeClr val="accent5">
                    <a:lumMod val="50000"/>
                  </a:schemeClr>
                </a:solidFill>
              </a:rPr>
            </a:br>
            <a:r>
              <a:rPr lang="en-US" sz="2000" b="1" dirty="0" smtClean="0"/>
              <a:t>Assessment of data quality, usability, transformation requirements, and integration challenges across all vendor datasets. Assessment of data quality, transformation requirements, join strategy, and integration challenges across all vendor datasets.</a:t>
            </a:r>
            <a:endParaRPr lang="en-IN" sz="2000"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04302346"/>
              </p:ext>
            </p:extLst>
          </p:nvPr>
        </p:nvGraphicFramePr>
        <p:xfrm>
          <a:off x="418908" y="1825625"/>
          <a:ext cx="11354181" cy="3576320"/>
        </p:xfrm>
        <a:graphic>
          <a:graphicData uri="http://schemas.openxmlformats.org/drawingml/2006/table">
            <a:tbl>
              <a:tblPr firstRow="1" bandRow="1">
                <a:tableStyleId>{5C22544A-7EE6-4342-B048-85BDC9FD1C3A}</a:tableStyleId>
              </a:tblPr>
              <a:tblGrid>
                <a:gridCol w="1752600"/>
                <a:gridCol w="1752600"/>
                <a:gridCol w="1752600"/>
                <a:gridCol w="2591181"/>
                <a:gridCol w="1752600"/>
                <a:gridCol w="1752600"/>
              </a:tblGrid>
              <a:tr h="370840">
                <a:tc>
                  <a:txBody>
                    <a:bodyPr/>
                    <a:lstStyle/>
                    <a:p>
                      <a:r>
                        <a:rPr lang="en-IN" dirty="0" smtClean="0"/>
                        <a:t>Dataset</a:t>
                      </a:r>
                      <a:endParaRPr lang="en-IN" dirty="0"/>
                    </a:p>
                  </a:txBody>
                  <a:tcPr/>
                </a:tc>
                <a:tc>
                  <a:txBody>
                    <a:bodyPr/>
                    <a:lstStyle/>
                    <a:p>
                      <a:r>
                        <a:rPr lang="en-IN" dirty="0" smtClean="0"/>
                        <a:t>Primary Data</a:t>
                      </a:r>
                      <a:endParaRPr lang="en-IN" dirty="0"/>
                    </a:p>
                  </a:txBody>
                  <a:tcPr/>
                </a:tc>
                <a:tc>
                  <a:txBody>
                    <a:bodyPr/>
                    <a:lstStyle/>
                    <a:p>
                      <a:r>
                        <a:rPr lang="en-IN" dirty="0" smtClean="0"/>
                        <a:t>Directly Usable</a:t>
                      </a:r>
                      <a:endParaRPr lang="en-IN" dirty="0"/>
                    </a:p>
                  </a:txBody>
                  <a:tcPr/>
                </a:tc>
                <a:tc>
                  <a:txBody>
                    <a:bodyPr/>
                    <a:lstStyle/>
                    <a:p>
                      <a:r>
                        <a:rPr lang="en-IN" dirty="0" smtClean="0"/>
                        <a:t>Transformation Required</a:t>
                      </a:r>
                      <a:endParaRPr lang="en-IN" dirty="0"/>
                    </a:p>
                  </a:txBody>
                  <a:tcPr/>
                </a:tc>
                <a:tc>
                  <a:txBody>
                    <a:bodyPr/>
                    <a:lstStyle/>
                    <a:p>
                      <a:r>
                        <a:rPr lang="en-IN" dirty="0" smtClean="0"/>
                        <a:t>Join Key</a:t>
                      </a:r>
                      <a:endParaRPr lang="en-IN" dirty="0"/>
                    </a:p>
                  </a:txBody>
                  <a:tcPr/>
                </a:tc>
                <a:tc>
                  <a:txBody>
                    <a:bodyPr/>
                    <a:lstStyle/>
                    <a:p>
                      <a:r>
                        <a:rPr lang="en-IN" dirty="0" smtClean="0"/>
                        <a:t>Challenges</a:t>
                      </a:r>
                      <a:endParaRPr lang="en-IN" dirty="0"/>
                    </a:p>
                  </a:txBody>
                  <a:tcPr/>
                </a:tc>
              </a:tr>
              <a:tr h="370840">
                <a:tc>
                  <a:txBody>
                    <a:bodyPr/>
                    <a:lstStyle/>
                    <a:p>
                      <a:r>
                        <a:rPr lang="en-IN"/>
                        <a:t>Asset Master</a:t>
                      </a:r>
                    </a:p>
                  </a:txBody>
                  <a:tcPr anchor="ctr"/>
                </a:tc>
                <a:tc>
                  <a:txBody>
                    <a:bodyPr/>
                    <a:lstStyle/>
                    <a:p>
                      <a:r>
                        <a:rPr lang="en-IN" dirty="0" smtClean="0"/>
                        <a:t>Machine Metadata</a:t>
                      </a:r>
                      <a:endParaRPr lang="en-IN" dirty="0"/>
                    </a:p>
                  </a:txBody>
                  <a:tcPr anchor="ctr"/>
                </a:tc>
                <a:tc>
                  <a:txBody>
                    <a:bodyPr/>
                    <a:lstStyle/>
                    <a:p>
                      <a:r>
                        <a:rPr lang="en-IN" dirty="0" smtClean="0"/>
                        <a:t>Machine Type, Criticality</a:t>
                      </a:r>
                      <a:endParaRPr lang="en-IN" dirty="0"/>
                    </a:p>
                  </a:txBody>
                  <a:tcPr anchor="ctr"/>
                </a:tc>
                <a:tc>
                  <a:txBody>
                    <a:bodyPr/>
                    <a:lstStyle/>
                    <a:p>
                      <a:r>
                        <a:rPr lang="en-IN" dirty="0" smtClean="0"/>
                        <a:t>Validation</a:t>
                      </a:r>
                      <a:endParaRPr lang="en-IN" dirty="0"/>
                    </a:p>
                  </a:txBody>
                  <a:tcPr anchor="ctr"/>
                </a:tc>
                <a:tc>
                  <a:txBody>
                    <a:bodyPr/>
                    <a:lstStyle/>
                    <a:p>
                      <a:r>
                        <a:rPr lang="en-IN" dirty="0" err="1" smtClean="0"/>
                        <a:t>machine_id</a:t>
                      </a:r>
                      <a:endParaRPr lang="en-IN" dirty="0"/>
                    </a:p>
                  </a:txBody>
                  <a:tcPr anchor="ctr"/>
                </a:tc>
                <a:tc>
                  <a:txBody>
                    <a:bodyPr/>
                    <a:lstStyle/>
                    <a:p>
                      <a:r>
                        <a:rPr lang="en-IN" dirty="0" smtClean="0"/>
                        <a:t>Missing master values</a:t>
                      </a:r>
                      <a:endParaRPr lang="en-IN" dirty="0"/>
                    </a:p>
                  </a:txBody>
                  <a:tcPr anchor="ctr"/>
                </a:tc>
              </a:tr>
              <a:tr h="370840">
                <a:tc>
                  <a:txBody>
                    <a:bodyPr/>
                    <a:lstStyle/>
                    <a:p>
                      <a:r>
                        <a:rPr lang="en-IN" dirty="0" smtClean="0"/>
                        <a:t>Vendor A</a:t>
                      </a:r>
                      <a:endParaRPr lang="en-IN" dirty="0"/>
                    </a:p>
                  </a:txBody>
                  <a:tcPr/>
                </a:tc>
                <a:tc>
                  <a:txBody>
                    <a:bodyPr/>
                    <a:lstStyle/>
                    <a:p>
                      <a:r>
                        <a:rPr lang="en-IN" dirty="0" smtClean="0"/>
                        <a:t>Sensor Events</a:t>
                      </a:r>
                      <a:endParaRPr lang="en-IN" dirty="0"/>
                    </a:p>
                  </a:txBody>
                  <a:tcPr/>
                </a:tc>
                <a:tc>
                  <a:txBody>
                    <a:bodyPr/>
                    <a:lstStyle/>
                    <a:p>
                      <a:r>
                        <a:rPr lang="en-IN" dirty="0" smtClean="0"/>
                        <a:t>Temperature, Vibration</a:t>
                      </a:r>
                      <a:endParaRPr lang="en-IN" dirty="0"/>
                    </a:p>
                  </a:txBody>
                  <a:tcPr/>
                </a:tc>
                <a:tc>
                  <a:txBody>
                    <a:bodyPr/>
                    <a:lstStyle/>
                    <a:p>
                      <a:r>
                        <a:rPr lang="en-IN" dirty="0" smtClean="0"/>
                        <a:t>Timestamp validation</a:t>
                      </a:r>
                      <a:endParaRPr lang="en-IN" dirty="0"/>
                    </a:p>
                  </a:txBody>
                  <a:tcPr/>
                </a:tc>
                <a:tc>
                  <a:txBody>
                    <a:bodyPr/>
                    <a:lstStyle/>
                    <a:p>
                      <a:r>
                        <a:rPr lang="en-IN" dirty="0" err="1" smtClean="0"/>
                        <a:t>machine_id</a:t>
                      </a:r>
                      <a:endParaRPr lang="en-IN" dirty="0"/>
                    </a:p>
                  </a:txBody>
                  <a:tcPr/>
                </a:tc>
                <a:tc>
                  <a:txBody>
                    <a:bodyPr/>
                    <a:lstStyle/>
                    <a:p>
                      <a:r>
                        <a:rPr lang="en-IN" dirty="0" smtClean="0"/>
                        <a:t>Missing sensor readings</a:t>
                      </a:r>
                      <a:endParaRPr lang="en-IN" dirty="0"/>
                    </a:p>
                  </a:txBody>
                  <a:tcPr/>
                </a:tc>
              </a:tr>
              <a:tr h="370840">
                <a:tc>
                  <a:txBody>
                    <a:bodyPr/>
                    <a:lstStyle/>
                    <a:p>
                      <a:r>
                        <a:rPr lang="en-IN" dirty="0" smtClean="0"/>
                        <a:t>Vendor B</a:t>
                      </a:r>
                      <a:endParaRPr lang="en-IN" dirty="0"/>
                    </a:p>
                  </a:txBody>
                  <a:tcPr/>
                </a:tc>
                <a:tc>
                  <a:txBody>
                    <a:bodyPr/>
                    <a:lstStyle/>
                    <a:p>
                      <a:r>
                        <a:rPr lang="en-IN" dirty="0" smtClean="0"/>
                        <a:t>Alert Events</a:t>
                      </a:r>
                      <a:endParaRPr lang="en-IN" dirty="0"/>
                    </a:p>
                  </a:txBody>
                  <a:tcPr/>
                </a:tc>
                <a:tc>
                  <a:txBody>
                    <a:bodyPr/>
                    <a:lstStyle/>
                    <a:p>
                      <a:r>
                        <a:rPr lang="en-IN" dirty="0" smtClean="0"/>
                        <a:t>Alerts, Power</a:t>
                      </a:r>
                      <a:endParaRPr lang="en-IN" dirty="0"/>
                    </a:p>
                  </a:txBody>
                  <a:tcPr/>
                </a:tc>
                <a:tc>
                  <a:txBody>
                    <a:bodyPr/>
                    <a:lstStyle/>
                    <a:p>
                      <a:r>
                        <a:rPr lang="en-IN" b="0" dirty="0" smtClean="0"/>
                        <a:t>°F→°C,</a:t>
                      </a:r>
                      <a:br>
                        <a:rPr lang="en-IN" b="0" dirty="0" smtClean="0"/>
                      </a:br>
                      <a:r>
                        <a:rPr lang="en-IN" b="0" dirty="0" err="1" smtClean="0"/>
                        <a:t>Epoch→UTC</a:t>
                      </a:r>
                      <a:r>
                        <a:rPr lang="en-IN" b="0" dirty="0" smtClean="0"/>
                        <a:t>, </a:t>
                      </a:r>
                      <a:r>
                        <a:rPr lang="en-IN" b="0" dirty="0" err="1" smtClean="0"/>
                        <a:t>assetCode→machine_id</a:t>
                      </a:r>
                      <a:endParaRPr lang="en-IN" b="0" dirty="0"/>
                    </a:p>
                  </a:txBody>
                  <a:tcPr/>
                </a:tc>
                <a:tc>
                  <a:txBody>
                    <a:bodyPr/>
                    <a:lstStyle/>
                    <a:p>
                      <a:r>
                        <a:rPr lang="en-IN" dirty="0" err="1" smtClean="0"/>
                        <a:t>assetCode</a:t>
                      </a:r>
                      <a:r>
                        <a:rPr lang="en-IN" dirty="0" smtClean="0"/>
                        <a:t> → </a:t>
                      </a:r>
                      <a:r>
                        <a:rPr lang="en-IN" dirty="0" err="1" smtClean="0"/>
                        <a:t>machine_id</a:t>
                      </a:r>
                      <a:endParaRPr lang="en-IN" dirty="0"/>
                    </a:p>
                  </a:txBody>
                  <a:tcPr/>
                </a:tc>
                <a:tc>
                  <a:txBody>
                    <a:bodyPr/>
                    <a:lstStyle/>
                    <a:p>
                      <a:r>
                        <a:rPr lang="en-IN" dirty="0" smtClean="0"/>
                        <a:t>Different schema</a:t>
                      </a:r>
                      <a:endParaRPr lang="en-IN" dirty="0"/>
                    </a:p>
                  </a:txBody>
                  <a:tcPr/>
                </a:tc>
              </a:tr>
              <a:tr h="370840">
                <a:tc>
                  <a:txBody>
                    <a:bodyPr/>
                    <a:lstStyle/>
                    <a:p>
                      <a:r>
                        <a:rPr lang="en-IN" dirty="0" smtClean="0"/>
                        <a:t>Vendor C</a:t>
                      </a:r>
                      <a:endParaRPr lang="en-IN" dirty="0"/>
                    </a:p>
                  </a:txBody>
                  <a:tcPr/>
                </a:tc>
                <a:tc>
                  <a:txBody>
                    <a:bodyPr/>
                    <a:lstStyle/>
                    <a:p>
                      <a:r>
                        <a:rPr lang="en-IN" dirty="0" smtClean="0"/>
                        <a:t>Inspection</a:t>
                      </a:r>
                      <a:endParaRPr lang="en-IN" dirty="0"/>
                    </a:p>
                  </a:txBody>
                  <a:tcPr/>
                </a:tc>
                <a:tc>
                  <a:txBody>
                    <a:bodyPr/>
                    <a:lstStyle/>
                    <a:p>
                      <a:r>
                        <a:rPr lang="en-IN" dirty="0" smtClean="0"/>
                        <a:t>Maintenance, Notes</a:t>
                      </a:r>
                      <a:endParaRPr lang="en-IN" dirty="0"/>
                    </a:p>
                  </a:txBody>
                  <a:tcPr/>
                </a:tc>
                <a:tc>
                  <a:txBody>
                    <a:bodyPr/>
                    <a:lstStyle/>
                    <a:p>
                      <a:r>
                        <a:rPr lang="en-IN" dirty="0" smtClean="0"/>
                        <a:t>Normalize Inspection Notes</a:t>
                      </a:r>
                      <a:endParaRPr lang="en-IN" dirty="0"/>
                    </a:p>
                  </a:txBody>
                  <a:tcPr/>
                </a:tc>
                <a:tc>
                  <a:txBody>
                    <a:bodyPr/>
                    <a:lstStyle/>
                    <a:p>
                      <a:r>
                        <a:rPr lang="en-IN" dirty="0" err="1" smtClean="0"/>
                        <a:t>machine_ref</a:t>
                      </a:r>
                      <a:endParaRPr lang="en-IN" dirty="0"/>
                    </a:p>
                  </a:txBody>
                  <a:tcPr/>
                </a:tc>
                <a:tc>
                  <a:txBody>
                    <a:bodyPr/>
                    <a:lstStyle/>
                    <a:p>
                      <a:r>
                        <a:rPr lang="en-IN" dirty="0" smtClean="0"/>
                        <a:t>Unstructured notes</a:t>
                      </a:r>
                      <a:endParaRPr lang="en-IN" dirty="0"/>
                    </a:p>
                  </a:txBody>
                  <a:tcPr/>
                </a:tc>
              </a:tr>
              <a:tr h="370840">
                <a:tc>
                  <a:txBody>
                    <a:bodyPr/>
                    <a:lstStyle/>
                    <a:p>
                      <a:r>
                        <a:rPr lang="en-IN" dirty="0" smtClean="0"/>
                        <a:t>Maintenance</a:t>
                      </a:r>
                      <a:endParaRPr lang="en-IN" dirty="0"/>
                    </a:p>
                  </a:txBody>
                  <a:tcPr/>
                </a:tc>
                <a:tc>
                  <a:txBody>
                    <a:bodyPr/>
                    <a:lstStyle/>
                    <a:p>
                      <a:r>
                        <a:rPr lang="en-IN" dirty="0" smtClean="0"/>
                        <a:t>Work Orders</a:t>
                      </a:r>
                      <a:endParaRPr lang="en-IN" dirty="0"/>
                    </a:p>
                  </a:txBody>
                  <a:tcPr/>
                </a:tc>
                <a:tc>
                  <a:txBody>
                    <a:bodyPr/>
                    <a:lstStyle/>
                    <a:p>
                      <a:r>
                        <a:rPr lang="en-IN" dirty="0" smtClean="0"/>
                        <a:t>Service History</a:t>
                      </a:r>
                      <a:endParaRPr lang="en-IN" dirty="0"/>
                    </a:p>
                  </a:txBody>
                  <a:tcPr/>
                </a:tc>
                <a:tc>
                  <a:txBody>
                    <a:bodyPr/>
                    <a:lstStyle/>
                    <a:p>
                      <a:r>
                        <a:rPr lang="en-IN" dirty="0" smtClean="0"/>
                        <a:t>Date validation</a:t>
                      </a:r>
                      <a:endParaRPr lang="en-IN" dirty="0"/>
                    </a:p>
                  </a:txBody>
                  <a:tcPr/>
                </a:tc>
                <a:tc>
                  <a:txBody>
                    <a:bodyPr/>
                    <a:lstStyle/>
                    <a:p>
                      <a:r>
                        <a:rPr lang="en-IN" dirty="0" err="1" smtClean="0"/>
                        <a:t>machine_id</a:t>
                      </a:r>
                      <a:endParaRPr lang="en-IN" dirty="0"/>
                    </a:p>
                  </a:txBody>
                  <a:tcPr/>
                </a:tc>
                <a:tc>
                  <a:txBody>
                    <a:bodyPr/>
                    <a:lstStyle/>
                    <a:p>
                      <a:r>
                        <a:rPr lang="en-IN" dirty="0" smtClean="0"/>
                        <a:t>Missing records</a:t>
                      </a:r>
                      <a:endParaRPr lang="en-IN" dirty="0"/>
                    </a:p>
                  </a:txBody>
                  <a:tcPr/>
                </a:tc>
              </a:tr>
            </a:tbl>
          </a:graphicData>
        </a:graphic>
      </p:graphicFrame>
    </p:spTree>
    <p:extLst>
      <p:ext uri="{BB962C8B-B14F-4D97-AF65-F5344CB8AC3E}">
        <p14:creationId xmlns:p14="http://schemas.microsoft.com/office/powerpoint/2010/main" val="2981550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40734" y="579033"/>
            <a:ext cx="1687133" cy="5924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Asset Master</a:t>
            </a:r>
            <a:endParaRPr lang="en-IN" dirty="0">
              <a:ln w="0"/>
              <a:solidFill>
                <a:schemeClr val="tx1"/>
              </a:solidFill>
              <a:effectLst>
                <a:outerShdw blurRad="38100" dist="19050" dir="2700000" algn="tl" rotWithShape="0">
                  <a:schemeClr val="dk1">
                    <a:alpha val="40000"/>
                  </a:schemeClr>
                </a:outerShdw>
              </a:effectLst>
            </a:endParaRPr>
          </a:p>
        </p:txBody>
      </p:sp>
      <p:sp>
        <p:nvSpPr>
          <p:cNvPr id="4" name="Rounded Rectangle 3"/>
          <p:cNvSpPr/>
          <p:nvPr/>
        </p:nvSpPr>
        <p:spPr>
          <a:xfrm>
            <a:off x="2486253" y="579033"/>
            <a:ext cx="1687133" cy="5924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Vendor A</a:t>
            </a:r>
            <a:br>
              <a:rPr lang="en-IN" dirty="0" smtClean="0"/>
            </a:br>
            <a:r>
              <a:rPr lang="en-IN" dirty="0" smtClean="0"/>
              <a:t>Sensor Events</a:t>
            </a:r>
            <a:endParaRPr lang="en-IN" dirty="0"/>
          </a:p>
        </p:txBody>
      </p:sp>
      <p:sp>
        <p:nvSpPr>
          <p:cNvPr id="6" name="Rounded Rectangle 5"/>
          <p:cNvSpPr/>
          <p:nvPr/>
        </p:nvSpPr>
        <p:spPr>
          <a:xfrm>
            <a:off x="4513411" y="579033"/>
            <a:ext cx="1688400" cy="59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Vendor B </a:t>
            </a:r>
          </a:p>
          <a:p>
            <a:pPr algn="ctr"/>
            <a:r>
              <a:rPr lang="en-IN" dirty="0" smtClean="0"/>
              <a:t>Alert Events</a:t>
            </a:r>
            <a:endParaRPr lang="en-IN" dirty="0"/>
          </a:p>
        </p:txBody>
      </p:sp>
      <p:sp>
        <p:nvSpPr>
          <p:cNvPr id="7" name="Rounded Rectangle 6"/>
          <p:cNvSpPr/>
          <p:nvPr/>
        </p:nvSpPr>
        <p:spPr>
          <a:xfrm>
            <a:off x="6510133" y="579033"/>
            <a:ext cx="2795347" cy="59242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Vendor C Inspection &amp; Maintenance</a:t>
            </a:r>
            <a:endParaRPr lang="en-IN" dirty="0"/>
          </a:p>
        </p:txBody>
      </p:sp>
      <p:sp>
        <p:nvSpPr>
          <p:cNvPr id="8" name="Rounded Rectangle 7"/>
          <p:cNvSpPr/>
          <p:nvPr/>
        </p:nvSpPr>
        <p:spPr>
          <a:xfrm>
            <a:off x="9613802" y="579033"/>
            <a:ext cx="1688400" cy="594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Maintenance Records</a:t>
            </a:r>
            <a:endParaRPr lang="en-IN" dirty="0"/>
          </a:p>
        </p:txBody>
      </p:sp>
      <p:sp>
        <p:nvSpPr>
          <p:cNvPr id="12" name="TextBox 11"/>
          <p:cNvSpPr txBox="1"/>
          <p:nvPr/>
        </p:nvSpPr>
        <p:spPr>
          <a:xfrm>
            <a:off x="4389980" y="-14097"/>
            <a:ext cx="3277674" cy="461665"/>
          </a:xfrm>
          <a:prstGeom prst="rect">
            <a:avLst/>
          </a:prstGeom>
          <a:noFill/>
        </p:spPr>
        <p:txBody>
          <a:bodyPr wrap="square" rtlCol="0">
            <a:spAutoFit/>
          </a:bodyPr>
          <a:lstStyle/>
          <a:p>
            <a:r>
              <a:rPr lang="en-IN" sz="2400" b="1" dirty="0" smtClean="0">
                <a:solidFill>
                  <a:schemeClr val="accent5">
                    <a:lumMod val="50000"/>
                  </a:schemeClr>
                </a:solidFill>
              </a:rPr>
              <a:t>Normalized Data Model</a:t>
            </a:r>
            <a:endParaRPr lang="en-IN" sz="2400" b="1" dirty="0">
              <a:solidFill>
                <a:schemeClr val="accent5">
                  <a:lumMod val="50000"/>
                </a:schemeClr>
              </a:solidFill>
            </a:endParaRPr>
          </a:p>
        </p:txBody>
      </p:sp>
      <p:sp>
        <p:nvSpPr>
          <p:cNvPr id="13" name="Rectangle 1"/>
          <p:cNvSpPr>
            <a:spLocks noChangeArrowheads="1"/>
          </p:cNvSpPr>
          <p:nvPr/>
        </p:nvSpPr>
        <p:spPr bwMode="auto">
          <a:xfrm>
            <a:off x="0" y="-3301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smtClean="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4"/>
          <p:cNvSpPr>
            <a:spLocks noChangeArrowheads="1"/>
          </p:cNvSpPr>
          <p:nvPr/>
        </p:nvSpPr>
        <p:spPr bwMode="auto">
          <a:xfrm>
            <a:off x="152400" y="11939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smtClean="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7" name="Rectangle 5"/>
          <p:cNvSpPr>
            <a:spLocks noChangeArrowheads="1"/>
          </p:cNvSpPr>
          <p:nvPr/>
        </p:nvSpPr>
        <p:spPr bwMode="auto">
          <a:xfrm>
            <a:off x="304800" y="271790"/>
            <a:ext cx="18473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smtClean="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22" name="Rectangle 9"/>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31" name="Rounded Rectangle 30"/>
          <p:cNvSpPr/>
          <p:nvPr/>
        </p:nvSpPr>
        <p:spPr>
          <a:xfrm>
            <a:off x="1775138" y="1609696"/>
            <a:ext cx="8399172" cy="8500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t>Data Validation Layer</a:t>
            </a:r>
            <a:r>
              <a:rPr lang="en-IN" dirty="0" smtClean="0"/>
              <a:t/>
            </a:r>
            <a:br>
              <a:rPr lang="en-IN" dirty="0" smtClean="0"/>
            </a:br>
            <a:r>
              <a:rPr lang="en-IN" dirty="0" smtClean="0"/>
              <a:t>Schema checks | Duplicate detection | Range checks | Machine ID validation</a:t>
            </a:r>
            <a:endParaRPr lang="en-IN" dirty="0"/>
          </a:p>
        </p:txBody>
      </p:sp>
      <p:cxnSp>
        <p:nvCxnSpPr>
          <p:cNvPr id="35" name="Straight Arrow Connector 34"/>
          <p:cNvCxnSpPr/>
          <p:nvPr/>
        </p:nvCxnSpPr>
        <p:spPr>
          <a:xfrm>
            <a:off x="3263217" y="1170080"/>
            <a:ext cx="473229" cy="4409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H="1">
            <a:off x="7585377" y="983996"/>
            <a:ext cx="515155" cy="611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2" idx="2"/>
          </p:cNvCxnSpPr>
          <p:nvPr/>
        </p:nvCxnSpPr>
        <p:spPr>
          <a:xfrm>
            <a:off x="1384301" y="1171461"/>
            <a:ext cx="843566" cy="4238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H="1">
            <a:off x="9765379" y="849843"/>
            <a:ext cx="811648" cy="7598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7" name="Rounded Rectangle 56"/>
          <p:cNvSpPr/>
          <p:nvPr/>
        </p:nvSpPr>
        <p:spPr>
          <a:xfrm>
            <a:off x="2227867" y="2896366"/>
            <a:ext cx="7550365" cy="8500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Data Normalization</a:t>
            </a:r>
          </a:p>
          <a:p>
            <a:pPr algn="ctr"/>
            <a:r>
              <a:rPr lang="en-IN" dirty="0" err="1"/>
              <a:t>m</a:t>
            </a:r>
            <a:r>
              <a:rPr lang="en-IN" dirty="0" err="1" smtClean="0"/>
              <a:t>achine_id</a:t>
            </a:r>
            <a:r>
              <a:rPr lang="en-IN" dirty="0" smtClean="0"/>
              <a:t>│ UTC │ temperature (°C) │ alert mapping │ severity mapping </a:t>
            </a:r>
            <a:endParaRPr lang="en-IN" dirty="0"/>
          </a:p>
        </p:txBody>
      </p:sp>
      <p:cxnSp>
        <p:nvCxnSpPr>
          <p:cNvPr id="61" name="Straight Arrow Connector 60"/>
          <p:cNvCxnSpPr>
            <a:stCxn id="6" idx="2"/>
          </p:cNvCxnSpPr>
          <p:nvPr/>
        </p:nvCxnSpPr>
        <p:spPr>
          <a:xfrm>
            <a:off x="5357611" y="1173033"/>
            <a:ext cx="0" cy="4510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5357611" y="2459703"/>
            <a:ext cx="0" cy="436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Rounded Rectangle 64"/>
          <p:cNvSpPr/>
          <p:nvPr/>
        </p:nvSpPr>
        <p:spPr>
          <a:xfrm>
            <a:off x="2260062" y="4183034"/>
            <a:ext cx="7537511" cy="8924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Normalized Machine Data Model </a:t>
            </a:r>
            <a:br>
              <a:rPr lang="en-US" dirty="0" smtClean="0"/>
            </a:br>
            <a:r>
              <a:rPr lang="fr-FR" dirty="0" smtClean="0"/>
              <a:t>Machine | </a:t>
            </a:r>
            <a:r>
              <a:rPr lang="fr-FR" dirty="0" err="1" smtClean="0"/>
              <a:t>Sensor</a:t>
            </a:r>
            <a:r>
              <a:rPr lang="fr-FR" dirty="0" smtClean="0"/>
              <a:t> | </a:t>
            </a:r>
            <a:r>
              <a:rPr lang="fr-FR" dirty="0" err="1" smtClean="0"/>
              <a:t>Alert</a:t>
            </a:r>
            <a:r>
              <a:rPr lang="fr-FR" dirty="0" smtClean="0"/>
              <a:t> | Inspection | Maintenance | Score</a:t>
            </a:r>
            <a:endParaRPr lang="en-IN" dirty="0"/>
          </a:p>
        </p:txBody>
      </p:sp>
      <p:sp>
        <p:nvSpPr>
          <p:cNvPr id="66" name="Rounded Rectangle 65"/>
          <p:cNvSpPr/>
          <p:nvPr/>
        </p:nvSpPr>
        <p:spPr>
          <a:xfrm>
            <a:off x="2260061" y="5534097"/>
            <a:ext cx="7537512" cy="9144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Machine Health Scoring Engine </a:t>
            </a:r>
            <a:br>
              <a:rPr lang="en-US" dirty="0" smtClean="0"/>
            </a:br>
            <a:r>
              <a:rPr lang="en-US" dirty="0" smtClean="0"/>
              <a:t> Health Score | Confidence Score | Readiness Score | Reason Codes</a:t>
            </a:r>
            <a:endParaRPr lang="en-IN" dirty="0"/>
          </a:p>
        </p:txBody>
      </p:sp>
      <p:cxnSp>
        <p:nvCxnSpPr>
          <p:cNvPr id="68" name="Straight Arrow Connector 67"/>
          <p:cNvCxnSpPr/>
          <p:nvPr/>
        </p:nvCxnSpPr>
        <p:spPr>
          <a:xfrm>
            <a:off x="5357611" y="3746371"/>
            <a:ext cx="0" cy="4366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p:nvPr/>
        </p:nvCxnSpPr>
        <p:spPr>
          <a:xfrm>
            <a:off x="5357611" y="5097434"/>
            <a:ext cx="0" cy="414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66890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94945" y="0"/>
            <a:ext cx="4325724" cy="871247"/>
          </a:xfrm>
        </p:spPr>
        <p:txBody>
          <a:bodyPr>
            <a:normAutofit/>
          </a:bodyPr>
          <a:lstStyle/>
          <a:p>
            <a:r>
              <a:rPr lang="en-IN" sz="2400" b="1" dirty="0" smtClean="0">
                <a:solidFill>
                  <a:schemeClr val="accent5">
                    <a:lumMod val="50000"/>
                  </a:schemeClr>
                </a:solidFill>
                <a:latin typeface="+mn-lt"/>
              </a:rPr>
              <a:t>Machine Health Score Design </a:t>
            </a:r>
            <a:endParaRPr lang="en-IN" sz="2400" b="1" dirty="0">
              <a:solidFill>
                <a:schemeClr val="accent5">
                  <a:lumMod val="50000"/>
                </a:schemeClr>
              </a:solidFill>
              <a:latin typeface="+mn-lt"/>
            </a:endParaRPr>
          </a:p>
        </p:txBody>
      </p:sp>
      <p:sp>
        <p:nvSpPr>
          <p:cNvPr id="3" name="Content Placeholder 2"/>
          <p:cNvSpPr>
            <a:spLocks noGrp="1"/>
          </p:cNvSpPr>
          <p:nvPr>
            <p:ph sz="half" idx="1"/>
          </p:nvPr>
        </p:nvSpPr>
        <p:spPr>
          <a:xfrm>
            <a:off x="838200" y="871246"/>
            <a:ext cx="5181600" cy="5143187"/>
          </a:xfrm>
        </p:spPr>
        <p:txBody>
          <a:bodyPr>
            <a:noAutofit/>
          </a:bodyPr>
          <a:lstStyle/>
          <a:p>
            <a:pPr marL="0" indent="0">
              <a:buNone/>
            </a:pPr>
            <a:r>
              <a:rPr lang="en-IN" sz="1800" b="1" dirty="0" smtClean="0"/>
              <a:t>Health Score Factors</a:t>
            </a:r>
            <a:r>
              <a:rPr lang="en-US" sz="1600" dirty="0" smtClean="0"/>
              <a:t/>
            </a:r>
            <a:br>
              <a:rPr lang="en-US" sz="1600" dirty="0" smtClean="0"/>
            </a:br>
            <a:r>
              <a:rPr lang="en-US" sz="1600" dirty="0" smtClean="0"/>
              <a:t/>
            </a:r>
            <a:br>
              <a:rPr lang="en-US" sz="1600" dirty="0" smtClean="0"/>
            </a:br>
            <a:r>
              <a:rPr lang="en-US" sz="1800" dirty="0" smtClean="0"/>
              <a:t>Sensor Health (40%)</a:t>
            </a:r>
          </a:p>
          <a:p>
            <a:pPr marL="0" indent="0">
              <a:buNone/>
            </a:pPr>
            <a:r>
              <a:rPr lang="en-US" sz="1800" dirty="0" smtClean="0"/>
              <a:t>• Temperature</a:t>
            </a:r>
          </a:p>
          <a:p>
            <a:pPr marL="0" indent="0">
              <a:buNone/>
            </a:pPr>
            <a:r>
              <a:rPr lang="en-US" sz="1800" dirty="0" smtClean="0"/>
              <a:t>• Vibration</a:t>
            </a:r>
            <a:r>
              <a:rPr lang="en-US" sz="1600" dirty="0" smtClean="0"/>
              <a:t/>
            </a:r>
            <a:br>
              <a:rPr lang="en-US" sz="1600" dirty="0" smtClean="0"/>
            </a:br>
            <a:r>
              <a:rPr lang="en-US" sz="1600" dirty="0" smtClean="0"/>
              <a:t/>
            </a:r>
            <a:br>
              <a:rPr lang="en-US" sz="1600" dirty="0" smtClean="0"/>
            </a:br>
            <a:r>
              <a:rPr lang="en-US" sz="1800" dirty="0" smtClean="0"/>
              <a:t>Maintenance (25%)</a:t>
            </a:r>
          </a:p>
          <a:p>
            <a:r>
              <a:rPr lang="en-US" sz="1800" dirty="0" smtClean="0"/>
              <a:t>Service History </a:t>
            </a:r>
          </a:p>
          <a:p>
            <a:pPr marL="0" indent="0">
              <a:buNone/>
            </a:pPr>
            <a:r>
              <a:rPr lang="en-US" sz="1800" dirty="0" smtClean="0"/>
              <a:t>Inspection (20%)</a:t>
            </a:r>
          </a:p>
          <a:p>
            <a:r>
              <a:rPr lang="en-US" sz="1800" dirty="0" smtClean="0"/>
              <a:t>Inspection Result </a:t>
            </a:r>
          </a:p>
          <a:p>
            <a:pPr marL="0" indent="0">
              <a:buNone/>
            </a:pPr>
            <a:r>
              <a:rPr lang="en-US" sz="1800" dirty="0" smtClean="0"/>
              <a:t>Alerts (15%) </a:t>
            </a:r>
          </a:p>
          <a:p>
            <a:r>
              <a:rPr lang="en-US" sz="1800" dirty="0" smtClean="0"/>
              <a:t>Alert Severity</a:t>
            </a:r>
            <a:endParaRPr lang="en-US" sz="1800" dirty="0"/>
          </a:p>
        </p:txBody>
      </p:sp>
      <p:sp>
        <p:nvSpPr>
          <p:cNvPr id="12" name="TextBox 11"/>
          <p:cNvSpPr txBox="1"/>
          <p:nvPr/>
        </p:nvSpPr>
        <p:spPr>
          <a:xfrm>
            <a:off x="6362356" y="871246"/>
            <a:ext cx="3528811" cy="369332"/>
          </a:xfrm>
          <a:prstGeom prst="rect">
            <a:avLst/>
          </a:prstGeom>
          <a:noFill/>
        </p:spPr>
        <p:txBody>
          <a:bodyPr wrap="square" rtlCol="0">
            <a:spAutoFit/>
          </a:bodyPr>
          <a:lstStyle/>
          <a:p>
            <a:r>
              <a:rPr lang="en-IN" b="1" dirty="0" smtClean="0"/>
              <a:t>Health Score Interpretation</a:t>
            </a:r>
            <a:endParaRPr lang="en-IN" b="1" dirty="0"/>
          </a:p>
        </p:txBody>
      </p:sp>
      <p:sp>
        <p:nvSpPr>
          <p:cNvPr id="13" name="TextBox 12"/>
          <p:cNvSpPr txBox="1"/>
          <p:nvPr/>
        </p:nvSpPr>
        <p:spPr>
          <a:xfrm>
            <a:off x="1766248" y="4946832"/>
            <a:ext cx="9709597" cy="646331"/>
          </a:xfrm>
          <a:prstGeom prst="rect">
            <a:avLst/>
          </a:prstGeom>
          <a:noFill/>
        </p:spPr>
        <p:txBody>
          <a:bodyPr wrap="square" rtlCol="0">
            <a:spAutoFit/>
          </a:bodyPr>
          <a:lstStyle/>
          <a:p>
            <a:r>
              <a:rPr lang="en-US" b="1" i="1" dirty="0" smtClean="0"/>
              <a:t>Health Score = 40% Sensor Health + 25% Maintenance + 20% Inspection + 15% Alerts</a:t>
            </a:r>
            <a:br>
              <a:rPr lang="en-US" b="1" i="1" dirty="0" smtClean="0"/>
            </a:br>
            <a:r>
              <a:rPr lang="en-US" b="1" i="1" dirty="0" smtClean="0"/>
              <a:t>Weights are business-defined and can be recalibrated using historical machine failure data.</a:t>
            </a:r>
            <a:endParaRPr lang="en-IN" b="1" i="1" dirty="0"/>
          </a:p>
        </p:txBody>
      </p:sp>
      <p:graphicFrame>
        <p:nvGraphicFramePr>
          <p:cNvPr id="15" name="Content Placeholder 14"/>
          <p:cNvGraphicFramePr>
            <a:graphicFrameLocks noGrp="1"/>
          </p:cNvGraphicFramePr>
          <p:nvPr>
            <p:ph sz="half" idx="2"/>
            <p:extLst>
              <p:ext uri="{D42A27DB-BD31-4B8C-83A1-F6EECF244321}">
                <p14:modId xmlns:p14="http://schemas.microsoft.com/office/powerpoint/2010/main" val="821885540"/>
              </p:ext>
            </p:extLst>
          </p:nvPr>
        </p:nvGraphicFramePr>
        <p:xfrm>
          <a:off x="6172200" y="1825625"/>
          <a:ext cx="5181600" cy="1854200"/>
        </p:xfrm>
        <a:graphic>
          <a:graphicData uri="http://schemas.openxmlformats.org/drawingml/2006/table">
            <a:tbl>
              <a:tblPr firstRow="1" bandRow="1">
                <a:tableStyleId>{5C22544A-7EE6-4342-B048-85BDC9FD1C3A}</a:tableStyleId>
              </a:tblPr>
              <a:tblGrid>
                <a:gridCol w="2590800"/>
                <a:gridCol w="2590800"/>
              </a:tblGrid>
              <a:tr h="370840">
                <a:tc>
                  <a:txBody>
                    <a:bodyPr/>
                    <a:lstStyle/>
                    <a:p>
                      <a:r>
                        <a:rPr lang="en-IN" dirty="0" smtClean="0"/>
                        <a:t>Score</a:t>
                      </a:r>
                      <a:endParaRPr lang="en-IN" dirty="0"/>
                    </a:p>
                  </a:txBody>
                  <a:tcPr/>
                </a:tc>
                <a:tc>
                  <a:txBody>
                    <a:bodyPr/>
                    <a:lstStyle/>
                    <a:p>
                      <a:r>
                        <a:rPr lang="en-IN" dirty="0" smtClean="0"/>
                        <a:t>Status</a:t>
                      </a:r>
                      <a:endParaRPr lang="en-IN" dirty="0"/>
                    </a:p>
                  </a:txBody>
                  <a:tcPr/>
                </a:tc>
              </a:tr>
              <a:tr h="370840">
                <a:tc>
                  <a:txBody>
                    <a:bodyPr/>
                    <a:lstStyle/>
                    <a:p>
                      <a:r>
                        <a:rPr lang="en-IN" dirty="0" smtClean="0"/>
                        <a:t>80–100</a:t>
                      </a:r>
                      <a:endParaRPr lang="en-IN" dirty="0"/>
                    </a:p>
                  </a:txBody>
                  <a:tcPr/>
                </a:tc>
                <a:tc>
                  <a:txBody>
                    <a:bodyPr/>
                    <a:lstStyle/>
                    <a:p>
                      <a:r>
                        <a:rPr lang="en-IN" dirty="0" smtClean="0"/>
                        <a:t>Healthy</a:t>
                      </a:r>
                      <a:endParaRPr lang="en-IN" dirty="0"/>
                    </a:p>
                  </a:txBody>
                  <a:tcPr/>
                </a:tc>
              </a:tr>
              <a:tr h="370840">
                <a:tc>
                  <a:txBody>
                    <a:bodyPr/>
                    <a:lstStyle/>
                    <a:p>
                      <a:r>
                        <a:rPr lang="en-IN" dirty="0" smtClean="0"/>
                        <a:t>60–79</a:t>
                      </a:r>
                      <a:endParaRPr lang="en-IN" dirty="0"/>
                    </a:p>
                  </a:txBody>
                  <a:tcPr/>
                </a:tc>
                <a:tc>
                  <a:txBody>
                    <a:bodyPr/>
                    <a:lstStyle/>
                    <a:p>
                      <a:r>
                        <a:rPr lang="en-IN" dirty="0" smtClean="0"/>
                        <a:t>Warning</a:t>
                      </a:r>
                      <a:endParaRPr lang="en-IN" dirty="0"/>
                    </a:p>
                  </a:txBody>
                  <a:tcPr/>
                </a:tc>
              </a:tr>
              <a:tr h="370840">
                <a:tc>
                  <a:txBody>
                    <a:bodyPr/>
                    <a:lstStyle/>
                    <a:p>
                      <a:r>
                        <a:rPr lang="en-IN" dirty="0" smtClean="0"/>
                        <a:t>40–59</a:t>
                      </a:r>
                      <a:endParaRPr lang="en-IN" dirty="0"/>
                    </a:p>
                  </a:txBody>
                  <a:tcPr/>
                </a:tc>
                <a:tc>
                  <a:txBody>
                    <a:bodyPr/>
                    <a:lstStyle/>
                    <a:p>
                      <a:r>
                        <a:rPr lang="en-IN" dirty="0" smtClean="0"/>
                        <a:t>High Risk</a:t>
                      </a:r>
                      <a:endParaRPr lang="en-IN" dirty="0"/>
                    </a:p>
                  </a:txBody>
                  <a:tcPr/>
                </a:tc>
              </a:tr>
              <a:tr h="370840">
                <a:tc>
                  <a:txBody>
                    <a:bodyPr/>
                    <a:lstStyle/>
                    <a:p>
                      <a:r>
                        <a:rPr lang="en-IN" dirty="0" smtClean="0"/>
                        <a:t>0–39</a:t>
                      </a:r>
                      <a:endParaRPr lang="en-IN" dirty="0"/>
                    </a:p>
                  </a:txBody>
                  <a:tcPr/>
                </a:tc>
                <a:tc>
                  <a:txBody>
                    <a:bodyPr/>
                    <a:lstStyle/>
                    <a:p>
                      <a:r>
                        <a:rPr lang="en-IN" dirty="0" smtClean="0"/>
                        <a:t>Critical</a:t>
                      </a:r>
                      <a:endParaRPr lang="en-IN" dirty="0"/>
                    </a:p>
                  </a:txBody>
                  <a:tcPr/>
                </a:tc>
              </a:tr>
            </a:tbl>
          </a:graphicData>
        </a:graphic>
      </p:graphicFrame>
    </p:spTree>
    <p:extLst>
      <p:ext uri="{BB962C8B-B14F-4D97-AF65-F5344CB8AC3E}">
        <p14:creationId xmlns:p14="http://schemas.microsoft.com/office/powerpoint/2010/main" val="1119698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9130" y="236338"/>
            <a:ext cx="3811073" cy="497760"/>
          </a:xfrm>
        </p:spPr>
        <p:txBody>
          <a:bodyPr>
            <a:normAutofit fontScale="90000"/>
          </a:bodyPr>
          <a:lstStyle/>
          <a:p>
            <a:r>
              <a:rPr lang="en-IN" sz="2400" b="1" dirty="0" smtClean="0">
                <a:solidFill>
                  <a:schemeClr val="accent5">
                    <a:lumMod val="50000"/>
                  </a:schemeClr>
                </a:solidFill>
                <a:latin typeface="+mn-lt"/>
              </a:rPr>
              <a:t>Confidence / Reliability Score</a:t>
            </a:r>
            <a:endParaRPr lang="en-IN" sz="2400" b="1" dirty="0">
              <a:solidFill>
                <a:schemeClr val="accent5">
                  <a:lumMod val="50000"/>
                </a:schemeClr>
              </a:solidFill>
              <a:latin typeface="+mn-lt"/>
            </a:endParaRPr>
          </a:p>
        </p:txBody>
      </p:sp>
      <p:sp>
        <p:nvSpPr>
          <p:cNvPr id="3" name="Content Placeholder 2"/>
          <p:cNvSpPr>
            <a:spLocks noGrp="1"/>
          </p:cNvSpPr>
          <p:nvPr>
            <p:ph sz="half" idx="1"/>
          </p:nvPr>
        </p:nvSpPr>
        <p:spPr>
          <a:xfrm>
            <a:off x="876836" y="1078650"/>
            <a:ext cx="5181600" cy="4351338"/>
          </a:xfrm>
        </p:spPr>
        <p:txBody>
          <a:bodyPr>
            <a:noAutofit/>
          </a:bodyPr>
          <a:lstStyle/>
          <a:p>
            <a:pPr marL="0" indent="0">
              <a:buNone/>
            </a:pPr>
            <a:r>
              <a:rPr lang="en-IN" sz="1800" b="1" dirty="0" smtClean="0"/>
              <a:t>Confidence</a:t>
            </a:r>
            <a:r>
              <a:rPr lang="en-IN" sz="1800" dirty="0" smtClean="0"/>
              <a:t> </a:t>
            </a:r>
            <a:r>
              <a:rPr lang="en-IN" sz="1800" b="1" dirty="0" smtClean="0"/>
              <a:t>Score Factors</a:t>
            </a:r>
          </a:p>
          <a:p>
            <a:pPr marL="0" indent="0">
              <a:buNone/>
            </a:pPr>
            <a:r>
              <a:rPr lang="en-IN" sz="1800" dirty="0" smtClean="0"/>
              <a:t>• Data Quality (40%)</a:t>
            </a:r>
          </a:p>
          <a:p>
            <a:pPr marL="0" indent="0">
              <a:buNone/>
            </a:pPr>
            <a:r>
              <a:rPr lang="en-IN" sz="1800" dirty="0" smtClean="0"/>
              <a:t>  - Missing Values</a:t>
            </a:r>
          </a:p>
          <a:p>
            <a:pPr marL="0" indent="0">
              <a:buNone/>
            </a:pPr>
            <a:r>
              <a:rPr lang="en-IN" sz="1800" dirty="0" smtClean="0"/>
              <a:t>  - Invalid Records</a:t>
            </a:r>
          </a:p>
          <a:p>
            <a:pPr marL="0" indent="0">
              <a:buNone/>
            </a:pPr>
            <a:r>
              <a:rPr lang="en-IN" sz="1800" dirty="0" smtClean="0"/>
              <a:t>• Sensor Reliability (30%)</a:t>
            </a:r>
          </a:p>
          <a:p>
            <a:pPr marL="0" indent="0">
              <a:buNone/>
            </a:pPr>
            <a:r>
              <a:rPr lang="en-IN" sz="1800" dirty="0" smtClean="0"/>
              <a:t>  - Sensor Health</a:t>
            </a:r>
          </a:p>
          <a:p>
            <a:pPr marL="0" indent="0">
              <a:buNone/>
            </a:pPr>
            <a:r>
              <a:rPr lang="en-IN" sz="1800" dirty="0" smtClean="0"/>
              <a:t>  - Signal Quality</a:t>
            </a:r>
          </a:p>
          <a:p>
            <a:pPr marL="0" indent="0">
              <a:buNone/>
            </a:pPr>
            <a:r>
              <a:rPr lang="en-IN" sz="1800" dirty="0" smtClean="0"/>
              <a:t>• Vendor Consistency (20%)</a:t>
            </a:r>
          </a:p>
          <a:p>
            <a:pPr marL="0" indent="0">
              <a:buNone/>
            </a:pPr>
            <a:r>
              <a:rPr lang="en-IN" sz="1800" dirty="0" smtClean="0"/>
              <a:t>  - Cross-vendor Validation</a:t>
            </a:r>
          </a:p>
          <a:p>
            <a:pPr marL="0" indent="0">
              <a:buNone/>
            </a:pPr>
            <a:r>
              <a:rPr lang="en-IN" sz="1800" dirty="0" smtClean="0"/>
              <a:t>• Data Freshness (10%)</a:t>
            </a:r>
          </a:p>
          <a:p>
            <a:pPr marL="0" indent="0">
              <a:buNone/>
            </a:pPr>
            <a:r>
              <a:rPr lang="en-IN" sz="1800" dirty="0" smtClean="0"/>
              <a:t>  </a:t>
            </a:r>
            <a:r>
              <a:rPr lang="en-IN" sz="1800" dirty="0" smtClean="0"/>
              <a:t>- </a:t>
            </a:r>
            <a:r>
              <a:rPr lang="en-IN" sz="1800" dirty="0" smtClean="0"/>
              <a:t>Recent</a:t>
            </a:r>
            <a:r>
              <a:rPr lang="en-IN" sz="1800" dirty="0" smtClean="0"/>
              <a:t> Timestamp</a:t>
            </a:r>
            <a:endParaRPr lang="en-IN" sz="1800" dirty="0"/>
          </a:p>
        </p:txBody>
      </p:sp>
      <p:graphicFrame>
        <p:nvGraphicFramePr>
          <p:cNvPr id="6" name="Content Placeholder 5"/>
          <p:cNvGraphicFramePr>
            <a:graphicFrameLocks noGrp="1"/>
          </p:cNvGraphicFramePr>
          <p:nvPr>
            <p:ph sz="half" idx="2"/>
            <p:extLst>
              <p:ext uri="{D42A27DB-BD31-4B8C-83A1-F6EECF244321}">
                <p14:modId xmlns:p14="http://schemas.microsoft.com/office/powerpoint/2010/main" val="809064408"/>
              </p:ext>
            </p:extLst>
          </p:nvPr>
        </p:nvGraphicFramePr>
        <p:xfrm>
          <a:off x="6391141" y="1568048"/>
          <a:ext cx="5181600" cy="1854200"/>
        </p:xfrm>
        <a:graphic>
          <a:graphicData uri="http://schemas.openxmlformats.org/drawingml/2006/table">
            <a:tbl>
              <a:tblPr firstRow="1" bandRow="1">
                <a:tableStyleId>{5C22544A-7EE6-4342-B048-85BDC9FD1C3A}</a:tableStyleId>
              </a:tblPr>
              <a:tblGrid>
                <a:gridCol w="2590800"/>
                <a:gridCol w="2590800"/>
              </a:tblGrid>
              <a:tr h="370840">
                <a:tc>
                  <a:txBody>
                    <a:bodyPr/>
                    <a:lstStyle/>
                    <a:p>
                      <a:r>
                        <a:rPr lang="en-IN" dirty="0" smtClean="0"/>
                        <a:t>Confidence</a:t>
                      </a:r>
                      <a:endParaRPr lang="en-IN" dirty="0"/>
                    </a:p>
                  </a:txBody>
                  <a:tcPr/>
                </a:tc>
                <a:tc>
                  <a:txBody>
                    <a:bodyPr/>
                    <a:lstStyle/>
                    <a:p>
                      <a:r>
                        <a:rPr lang="en-IN" dirty="0" smtClean="0"/>
                        <a:t>Interpretation</a:t>
                      </a:r>
                      <a:endParaRPr lang="en-IN" dirty="0"/>
                    </a:p>
                  </a:txBody>
                  <a:tcPr/>
                </a:tc>
              </a:tr>
              <a:tr h="370840">
                <a:tc>
                  <a:txBody>
                    <a:bodyPr/>
                    <a:lstStyle/>
                    <a:p>
                      <a:r>
                        <a:rPr lang="en-IN" dirty="0" smtClean="0"/>
                        <a:t>90–100</a:t>
                      </a:r>
                      <a:endParaRPr lang="en-IN" dirty="0"/>
                    </a:p>
                  </a:txBody>
                  <a:tcPr/>
                </a:tc>
                <a:tc>
                  <a:txBody>
                    <a:bodyPr/>
                    <a:lstStyle/>
                    <a:p>
                      <a:r>
                        <a:rPr lang="en-IN" dirty="0" smtClean="0"/>
                        <a:t>Very High</a:t>
                      </a:r>
                      <a:endParaRPr lang="en-IN" dirty="0"/>
                    </a:p>
                  </a:txBody>
                  <a:tcPr/>
                </a:tc>
              </a:tr>
              <a:tr h="370840">
                <a:tc>
                  <a:txBody>
                    <a:bodyPr/>
                    <a:lstStyle/>
                    <a:p>
                      <a:r>
                        <a:rPr lang="en-IN" dirty="0" smtClean="0"/>
                        <a:t>70–89</a:t>
                      </a:r>
                      <a:endParaRPr lang="en-IN" dirty="0"/>
                    </a:p>
                  </a:txBody>
                  <a:tcPr/>
                </a:tc>
                <a:tc>
                  <a:txBody>
                    <a:bodyPr/>
                    <a:lstStyle/>
                    <a:p>
                      <a:r>
                        <a:rPr lang="en-IN" dirty="0" smtClean="0"/>
                        <a:t>High</a:t>
                      </a:r>
                      <a:endParaRPr lang="en-IN" dirty="0"/>
                    </a:p>
                  </a:txBody>
                  <a:tcPr/>
                </a:tc>
              </a:tr>
              <a:tr h="370840">
                <a:tc>
                  <a:txBody>
                    <a:bodyPr/>
                    <a:lstStyle/>
                    <a:p>
                      <a:r>
                        <a:rPr lang="en-IN" dirty="0" smtClean="0"/>
                        <a:t>50–69</a:t>
                      </a:r>
                      <a:endParaRPr lang="en-IN" dirty="0"/>
                    </a:p>
                  </a:txBody>
                  <a:tcPr/>
                </a:tc>
                <a:tc>
                  <a:txBody>
                    <a:bodyPr/>
                    <a:lstStyle/>
                    <a:p>
                      <a:r>
                        <a:rPr lang="en-IN" dirty="0" smtClean="0"/>
                        <a:t>Medium</a:t>
                      </a:r>
                      <a:endParaRPr lang="en-IN" dirty="0"/>
                    </a:p>
                  </a:txBody>
                  <a:tcPr/>
                </a:tc>
              </a:tr>
              <a:tr h="370840">
                <a:tc>
                  <a:txBody>
                    <a:bodyPr/>
                    <a:lstStyle/>
                    <a:p>
                      <a:r>
                        <a:rPr lang="en-IN" dirty="0" smtClean="0"/>
                        <a:t>Below 50</a:t>
                      </a:r>
                      <a:endParaRPr lang="en-IN" dirty="0"/>
                    </a:p>
                  </a:txBody>
                  <a:tcPr/>
                </a:tc>
                <a:tc>
                  <a:txBody>
                    <a:bodyPr/>
                    <a:lstStyle/>
                    <a:p>
                      <a:r>
                        <a:rPr lang="en-IN" dirty="0" smtClean="0"/>
                        <a:t>Low</a:t>
                      </a:r>
                      <a:endParaRPr lang="en-IN" dirty="0"/>
                    </a:p>
                  </a:txBody>
                  <a:tcPr/>
                </a:tc>
              </a:tr>
            </a:tbl>
          </a:graphicData>
        </a:graphic>
      </p:graphicFrame>
      <p:sp>
        <p:nvSpPr>
          <p:cNvPr id="8" name="TextBox 7"/>
          <p:cNvSpPr txBox="1"/>
          <p:nvPr/>
        </p:nvSpPr>
        <p:spPr>
          <a:xfrm>
            <a:off x="6297769" y="1078650"/>
            <a:ext cx="4636394" cy="369332"/>
          </a:xfrm>
          <a:prstGeom prst="rect">
            <a:avLst/>
          </a:prstGeom>
          <a:noFill/>
        </p:spPr>
        <p:txBody>
          <a:bodyPr wrap="square" rtlCol="0">
            <a:spAutoFit/>
          </a:bodyPr>
          <a:lstStyle/>
          <a:p>
            <a:r>
              <a:rPr lang="en-IN" b="1" dirty="0" smtClean="0"/>
              <a:t>Confidence Score Interpretation</a:t>
            </a:r>
            <a:endParaRPr lang="en-IN" b="1" dirty="0"/>
          </a:p>
        </p:txBody>
      </p:sp>
      <p:sp>
        <p:nvSpPr>
          <p:cNvPr id="9" name="TextBox 8"/>
          <p:cNvSpPr txBox="1"/>
          <p:nvPr/>
        </p:nvSpPr>
        <p:spPr>
          <a:xfrm>
            <a:off x="1120463" y="5405208"/>
            <a:ext cx="10754932" cy="646331"/>
          </a:xfrm>
          <a:prstGeom prst="rect">
            <a:avLst/>
          </a:prstGeom>
          <a:noFill/>
        </p:spPr>
        <p:txBody>
          <a:bodyPr wrap="square" rtlCol="0">
            <a:spAutoFit/>
          </a:bodyPr>
          <a:lstStyle/>
          <a:p>
            <a:r>
              <a:rPr lang="en-IN" b="1" i="1" dirty="0" smtClean="0"/>
              <a:t>Confidence Score = 40% Data Quality + 30% Sensor Reliability + 20% Vendor Consistency + 10% Data Freshness</a:t>
            </a:r>
          </a:p>
          <a:p>
            <a:r>
              <a:rPr lang="en-US" b="1" i="1" dirty="0" smtClean="0"/>
              <a:t>A low confidence score indicates low trust in the available data, not necessarily poor machine health.</a:t>
            </a:r>
            <a:endParaRPr lang="en-IN" b="1" i="1" dirty="0"/>
          </a:p>
        </p:txBody>
      </p:sp>
    </p:spTree>
    <p:extLst>
      <p:ext uri="{BB962C8B-B14F-4D97-AF65-F5344CB8AC3E}">
        <p14:creationId xmlns:p14="http://schemas.microsoft.com/office/powerpoint/2010/main" val="3155224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6076" y="469888"/>
            <a:ext cx="3757323" cy="420486"/>
          </a:xfrm>
        </p:spPr>
        <p:txBody>
          <a:bodyPr>
            <a:noAutofit/>
          </a:bodyPr>
          <a:lstStyle/>
          <a:p>
            <a:r>
              <a:rPr lang="en-IN" sz="2400" b="1" dirty="0" smtClean="0">
                <a:solidFill>
                  <a:schemeClr val="accent5">
                    <a:lumMod val="50000"/>
                  </a:schemeClr>
                </a:solidFill>
                <a:latin typeface="+mn-lt"/>
              </a:rPr>
              <a:t>Maturity / Readiness Score</a:t>
            </a:r>
            <a:endParaRPr lang="en-IN" sz="2400" b="1" dirty="0">
              <a:solidFill>
                <a:schemeClr val="accent5">
                  <a:lumMod val="50000"/>
                </a:schemeClr>
              </a:solidFill>
              <a:latin typeface="+mn-lt"/>
            </a:endParaRPr>
          </a:p>
        </p:txBody>
      </p:sp>
      <p:sp>
        <p:nvSpPr>
          <p:cNvPr id="3" name="Content Placeholder 2"/>
          <p:cNvSpPr>
            <a:spLocks noGrp="1"/>
          </p:cNvSpPr>
          <p:nvPr>
            <p:ph sz="half" idx="1"/>
          </p:nvPr>
        </p:nvSpPr>
        <p:spPr/>
        <p:txBody>
          <a:bodyPr>
            <a:normAutofit/>
          </a:bodyPr>
          <a:lstStyle/>
          <a:p>
            <a:pPr marL="0" indent="0">
              <a:buNone/>
            </a:pPr>
            <a:r>
              <a:rPr lang="en-IN" sz="1800" b="1" dirty="0" smtClean="0"/>
              <a:t>Readiness Score Factors</a:t>
            </a:r>
          </a:p>
          <a:p>
            <a:pPr marL="0" indent="0">
              <a:buNone/>
            </a:pPr>
            <a:r>
              <a:rPr lang="en-US" sz="1800" dirty="0" smtClean="0"/>
              <a:t>• Historical Data (40%)</a:t>
            </a:r>
          </a:p>
          <a:p>
            <a:pPr marL="0" indent="0">
              <a:buNone/>
            </a:pPr>
            <a:r>
              <a:rPr lang="en-US" sz="1800" dirty="0" smtClean="0"/>
              <a:t>  - Data Availability</a:t>
            </a:r>
          </a:p>
          <a:p>
            <a:pPr marL="0" indent="0">
              <a:buNone/>
            </a:pPr>
            <a:r>
              <a:rPr lang="en-US" sz="1800" dirty="0" smtClean="0"/>
              <a:t>• Maintenance History (25%)</a:t>
            </a:r>
          </a:p>
          <a:p>
            <a:pPr marL="0" indent="0">
              <a:buNone/>
            </a:pPr>
            <a:r>
              <a:rPr lang="en-US" sz="1800" dirty="0" smtClean="0"/>
              <a:t>  - Service Records</a:t>
            </a:r>
          </a:p>
          <a:p>
            <a:pPr marL="0" indent="0">
              <a:buNone/>
            </a:pPr>
            <a:r>
              <a:rPr lang="en-US" sz="1800" dirty="0" smtClean="0"/>
              <a:t>• Inspection Coverage (20%)</a:t>
            </a:r>
          </a:p>
          <a:p>
            <a:pPr marL="0" indent="0">
              <a:buNone/>
            </a:pPr>
            <a:r>
              <a:rPr lang="en-US" sz="1800" dirty="0" smtClean="0"/>
              <a:t>  - Inspection Frequency</a:t>
            </a:r>
          </a:p>
          <a:p>
            <a:pPr marL="0" indent="0">
              <a:buNone/>
            </a:pPr>
            <a:r>
              <a:rPr lang="en-US" sz="1800" dirty="0" smtClean="0"/>
              <a:t>• Sensor Coverage (15%)</a:t>
            </a:r>
          </a:p>
          <a:p>
            <a:pPr marL="0" indent="0">
              <a:buNone/>
            </a:pPr>
            <a:r>
              <a:rPr lang="en-US" sz="1800" dirty="0" smtClean="0"/>
              <a:t>  - Active Sensors</a:t>
            </a:r>
            <a:endParaRPr lang="en-IN" sz="1800" dirty="0"/>
          </a:p>
        </p:txBody>
      </p:sp>
      <p:graphicFrame>
        <p:nvGraphicFramePr>
          <p:cNvPr id="5" name="Content Placeholder 4"/>
          <p:cNvGraphicFramePr>
            <a:graphicFrameLocks noGrp="1"/>
          </p:cNvGraphicFramePr>
          <p:nvPr>
            <p:ph sz="half" idx="2"/>
            <p:extLst>
              <p:ext uri="{D42A27DB-BD31-4B8C-83A1-F6EECF244321}">
                <p14:modId xmlns:p14="http://schemas.microsoft.com/office/powerpoint/2010/main" val="3275310145"/>
              </p:ext>
            </p:extLst>
          </p:nvPr>
        </p:nvGraphicFramePr>
        <p:xfrm>
          <a:off x="6226935" y="2194957"/>
          <a:ext cx="5181600" cy="1849120"/>
        </p:xfrm>
        <a:graphic>
          <a:graphicData uri="http://schemas.openxmlformats.org/drawingml/2006/table">
            <a:tbl>
              <a:tblPr firstRow="1" bandRow="1">
                <a:tableStyleId>{5C22544A-7EE6-4342-B048-85BDC9FD1C3A}</a:tableStyleId>
              </a:tblPr>
              <a:tblGrid>
                <a:gridCol w="2590800"/>
                <a:gridCol w="2590800"/>
              </a:tblGrid>
              <a:tr h="0">
                <a:tc>
                  <a:txBody>
                    <a:bodyPr/>
                    <a:lstStyle/>
                    <a:p>
                      <a:r>
                        <a:rPr lang="en-IN" dirty="0" smtClean="0"/>
                        <a:t>Readiness</a:t>
                      </a:r>
                      <a:endParaRPr lang="en-IN" dirty="0"/>
                    </a:p>
                  </a:txBody>
                  <a:tcPr/>
                </a:tc>
                <a:tc>
                  <a:txBody>
                    <a:bodyPr/>
                    <a:lstStyle/>
                    <a:p>
                      <a:r>
                        <a:rPr lang="en-IN" dirty="0" smtClean="0"/>
                        <a:t>Interpretation</a:t>
                      </a:r>
                      <a:endParaRPr lang="en-IN" dirty="0"/>
                    </a:p>
                  </a:txBody>
                  <a:tcPr/>
                </a:tc>
              </a:tr>
              <a:tr h="370840">
                <a:tc>
                  <a:txBody>
                    <a:bodyPr/>
                    <a:lstStyle/>
                    <a:p>
                      <a:r>
                        <a:rPr lang="en-IN" dirty="0" smtClean="0"/>
                        <a:t>80–100</a:t>
                      </a:r>
                      <a:endParaRPr lang="en-IN" dirty="0"/>
                    </a:p>
                  </a:txBody>
                  <a:tcPr/>
                </a:tc>
                <a:tc>
                  <a:txBody>
                    <a:bodyPr/>
                    <a:lstStyle/>
                    <a:p>
                      <a:r>
                        <a:rPr lang="en-IN" dirty="0" smtClean="0"/>
                        <a:t>Production Ready</a:t>
                      </a:r>
                      <a:endParaRPr lang="en-IN" dirty="0"/>
                    </a:p>
                  </a:txBody>
                  <a:tcPr/>
                </a:tc>
              </a:tr>
              <a:tr h="370840">
                <a:tc>
                  <a:txBody>
                    <a:bodyPr/>
                    <a:lstStyle/>
                    <a:p>
                      <a:r>
                        <a:rPr lang="en-IN" dirty="0" smtClean="0"/>
                        <a:t>60–79</a:t>
                      </a:r>
                      <a:endParaRPr lang="en-IN" dirty="0"/>
                    </a:p>
                  </a:txBody>
                  <a:tcPr/>
                </a:tc>
                <a:tc>
                  <a:txBody>
                    <a:bodyPr/>
                    <a:lstStyle/>
                    <a:p>
                      <a:r>
                        <a:rPr lang="en-IN" dirty="0" smtClean="0"/>
                        <a:t>Sufficient Data</a:t>
                      </a:r>
                      <a:endParaRPr lang="en-IN" dirty="0"/>
                    </a:p>
                  </a:txBody>
                  <a:tcPr/>
                </a:tc>
              </a:tr>
              <a:tr h="370840">
                <a:tc>
                  <a:txBody>
                    <a:bodyPr/>
                    <a:lstStyle/>
                    <a:p>
                      <a:r>
                        <a:rPr lang="en-IN" dirty="0" smtClean="0"/>
                        <a:t>40–59</a:t>
                      </a:r>
                      <a:endParaRPr lang="en-IN" dirty="0"/>
                    </a:p>
                  </a:txBody>
                  <a:tcPr/>
                </a:tc>
                <a:tc>
                  <a:txBody>
                    <a:bodyPr/>
                    <a:lstStyle/>
                    <a:p>
                      <a:r>
                        <a:rPr lang="en-IN" dirty="0" smtClean="0"/>
                        <a:t>Limited Data</a:t>
                      </a:r>
                      <a:endParaRPr lang="en-IN" dirty="0"/>
                    </a:p>
                  </a:txBody>
                  <a:tcPr/>
                </a:tc>
              </a:tr>
              <a:tr h="370840">
                <a:tc>
                  <a:txBody>
                    <a:bodyPr/>
                    <a:lstStyle/>
                    <a:p>
                      <a:r>
                        <a:rPr lang="en-IN" dirty="0" smtClean="0"/>
                        <a:t>Below 40</a:t>
                      </a:r>
                      <a:endParaRPr lang="en-IN" dirty="0"/>
                    </a:p>
                  </a:txBody>
                  <a:tcPr/>
                </a:tc>
                <a:tc>
                  <a:txBody>
                    <a:bodyPr/>
                    <a:lstStyle/>
                    <a:p>
                      <a:r>
                        <a:rPr lang="en-IN" dirty="0" smtClean="0"/>
                        <a:t>Insufficient Data</a:t>
                      </a:r>
                      <a:endParaRPr lang="en-IN" dirty="0"/>
                    </a:p>
                  </a:txBody>
                  <a:tcPr/>
                </a:tc>
              </a:tr>
            </a:tbl>
          </a:graphicData>
        </a:graphic>
      </p:graphicFrame>
      <p:sp>
        <p:nvSpPr>
          <p:cNvPr id="7" name="TextBox 6"/>
          <p:cNvSpPr txBox="1"/>
          <p:nvPr/>
        </p:nvSpPr>
        <p:spPr>
          <a:xfrm>
            <a:off x="6194738" y="1825625"/>
            <a:ext cx="4623516" cy="369332"/>
          </a:xfrm>
          <a:prstGeom prst="rect">
            <a:avLst/>
          </a:prstGeom>
          <a:noFill/>
        </p:spPr>
        <p:txBody>
          <a:bodyPr wrap="square" rtlCol="0">
            <a:spAutoFit/>
          </a:bodyPr>
          <a:lstStyle/>
          <a:p>
            <a:r>
              <a:rPr lang="en-IN" b="1" dirty="0" smtClean="0"/>
              <a:t>Readiness Score Interpretation</a:t>
            </a:r>
            <a:endParaRPr lang="en-IN" b="1" dirty="0"/>
          </a:p>
        </p:txBody>
      </p:sp>
      <p:sp>
        <p:nvSpPr>
          <p:cNvPr id="8" name="TextBox 7"/>
          <p:cNvSpPr txBox="1"/>
          <p:nvPr/>
        </p:nvSpPr>
        <p:spPr>
          <a:xfrm>
            <a:off x="674427" y="5161300"/>
            <a:ext cx="11288333" cy="369332"/>
          </a:xfrm>
          <a:prstGeom prst="rect">
            <a:avLst/>
          </a:prstGeom>
          <a:noFill/>
        </p:spPr>
        <p:txBody>
          <a:bodyPr wrap="square" rtlCol="0">
            <a:spAutoFit/>
          </a:bodyPr>
          <a:lstStyle/>
          <a:p>
            <a:r>
              <a:rPr lang="en-US" b="1" i="1" dirty="0" smtClean="0"/>
              <a:t>Readiness Score = 40% Historical Data + 25% Maintenance History + 20% Inspection Coverage + 15% Sensor Coverage</a:t>
            </a:r>
            <a:endParaRPr lang="en-IN" b="1" i="1" dirty="0"/>
          </a:p>
        </p:txBody>
      </p:sp>
      <p:sp>
        <p:nvSpPr>
          <p:cNvPr id="9" name="TextBox 8"/>
          <p:cNvSpPr txBox="1"/>
          <p:nvPr/>
        </p:nvSpPr>
        <p:spPr>
          <a:xfrm>
            <a:off x="674427" y="5530632"/>
            <a:ext cx="4995931" cy="646331"/>
          </a:xfrm>
          <a:prstGeom prst="rect">
            <a:avLst/>
          </a:prstGeom>
          <a:noFill/>
        </p:spPr>
        <p:txBody>
          <a:bodyPr wrap="square" rtlCol="0">
            <a:spAutoFit/>
          </a:bodyPr>
          <a:lstStyle/>
          <a:p>
            <a:r>
              <a:rPr lang="en-US" b="1" dirty="0" smtClean="0"/>
              <a:t>Confidence Score → Measures Data Reliability</a:t>
            </a:r>
          </a:p>
          <a:p>
            <a:r>
              <a:rPr lang="en-US" b="1" dirty="0" smtClean="0"/>
              <a:t>Readiness Score → Measures Data Sufficiency</a:t>
            </a:r>
            <a:endParaRPr lang="en-IN" b="1" dirty="0"/>
          </a:p>
        </p:txBody>
      </p:sp>
    </p:spTree>
    <p:extLst>
      <p:ext uri="{BB962C8B-B14F-4D97-AF65-F5344CB8AC3E}">
        <p14:creationId xmlns:p14="http://schemas.microsoft.com/office/powerpoint/2010/main" val="2300587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3125" y="171942"/>
            <a:ext cx="4313349" cy="549275"/>
          </a:xfrm>
        </p:spPr>
        <p:txBody>
          <a:bodyPr>
            <a:normAutofit fontScale="90000"/>
          </a:bodyPr>
          <a:lstStyle/>
          <a:p>
            <a:r>
              <a:rPr lang="en-IN" sz="2400" b="1" dirty="0" smtClean="0">
                <a:solidFill>
                  <a:schemeClr val="accent5">
                    <a:lumMod val="50000"/>
                  </a:schemeClr>
                </a:solidFill>
                <a:latin typeface="+mn-lt"/>
              </a:rPr>
              <a:t>Feature Engineering &amp; Future ML</a:t>
            </a:r>
            <a:endParaRPr lang="en-IN" sz="2400" b="1" dirty="0">
              <a:solidFill>
                <a:schemeClr val="accent5">
                  <a:lumMod val="50000"/>
                </a:schemeClr>
              </a:solidFill>
              <a:latin typeface="+mn-lt"/>
            </a:endParaRPr>
          </a:p>
        </p:txBody>
      </p:sp>
      <p:sp>
        <p:nvSpPr>
          <p:cNvPr id="3" name="Content Placeholder 2"/>
          <p:cNvSpPr>
            <a:spLocks noGrp="1"/>
          </p:cNvSpPr>
          <p:nvPr>
            <p:ph sz="half" idx="1"/>
          </p:nvPr>
        </p:nvSpPr>
        <p:spPr>
          <a:xfrm>
            <a:off x="966989" y="924105"/>
            <a:ext cx="5181600" cy="4351338"/>
          </a:xfrm>
        </p:spPr>
        <p:txBody>
          <a:bodyPr>
            <a:normAutofit fontScale="92500" lnSpcReduction="20000"/>
          </a:bodyPr>
          <a:lstStyle/>
          <a:p>
            <a:pPr marL="0" indent="0">
              <a:buNone/>
            </a:pPr>
            <a:r>
              <a:rPr lang="en-IN" sz="1800" b="1" dirty="0" smtClean="0"/>
              <a:t>Feature Engineering</a:t>
            </a:r>
            <a:br>
              <a:rPr lang="en-IN" sz="1800" b="1" dirty="0" smtClean="0"/>
            </a:br>
            <a:r>
              <a:rPr lang="en-IN" sz="1800" b="1" dirty="0" smtClean="0"/>
              <a:t/>
            </a:r>
            <a:br>
              <a:rPr lang="en-IN" sz="1800" b="1" dirty="0" smtClean="0"/>
            </a:br>
            <a:r>
              <a:rPr lang="en-US" sz="1800" dirty="0" smtClean="0"/>
              <a:t>Derived Features</a:t>
            </a:r>
          </a:p>
          <a:p>
            <a:pPr marL="0" indent="0">
              <a:buNone/>
            </a:pPr>
            <a:r>
              <a:rPr lang="en-US" sz="1800" dirty="0" smtClean="0"/>
              <a:t>• Temperature Deviation</a:t>
            </a:r>
          </a:p>
          <a:p>
            <a:pPr marL="0" indent="0">
              <a:buNone/>
            </a:pPr>
            <a:r>
              <a:rPr lang="en-US" sz="1800" dirty="0" smtClean="0"/>
              <a:t>• Vibration Trend</a:t>
            </a:r>
          </a:p>
          <a:p>
            <a:pPr marL="0" indent="0">
              <a:buNone/>
            </a:pPr>
            <a:r>
              <a:rPr lang="en-US" sz="1800" dirty="0" smtClean="0"/>
              <a:t>• Days Since Last Service</a:t>
            </a:r>
          </a:p>
          <a:p>
            <a:pPr marL="0" indent="0">
              <a:buNone/>
            </a:pPr>
            <a:r>
              <a:rPr lang="en-US" sz="1800" dirty="0" smtClean="0"/>
              <a:t>• Alert Frequency</a:t>
            </a:r>
          </a:p>
          <a:p>
            <a:pPr marL="0" indent="0">
              <a:buNone/>
            </a:pPr>
            <a:r>
              <a:rPr lang="en-US" sz="1800" dirty="0" smtClean="0"/>
              <a:t>• Inspection Defect Count</a:t>
            </a:r>
          </a:p>
          <a:p>
            <a:pPr marL="0" indent="0">
              <a:buNone/>
            </a:pPr>
            <a:r>
              <a:rPr lang="en-US" sz="1800" dirty="0" smtClean="0"/>
              <a:t>• Machine Age</a:t>
            </a:r>
          </a:p>
          <a:p>
            <a:pPr marL="0" indent="0">
              <a:buNone/>
            </a:pPr>
            <a:r>
              <a:rPr lang="en-US" sz="1800" dirty="0" smtClean="0"/>
              <a:t>• Operating Hours</a:t>
            </a:r>
            <a:endParaRPr lang="en-IN" sz="1800" dirty="0"/>
          </a:p>
        </p:txBody>
      </p:sp>
      <p:sp>
        <p:nvSpPr>
          <p:cNvPr id="4" name="Content Placeholder 3"/>
          <p:cNvSpPr>
            <a:spLocks noGrp="1"/>
          </p:cNvSpPr>
          <p:nvPr>
            <p:ph sz="half" idx="2"/>
          </p:nvPr>
        </p:nvSpPr>
        <p:spPr>
          <a:xfrm>
            <a:off x="6275231" y="924105"/>
            <a:ext cx="5181600" cy="4351338"/>
          </a:xfrm>
        </p:spPr>
        <p:txBody>
          <a:bodyPr>
            <a:normAutofit fontScale="92500" lnSpcReduction="20000"/>
          </a:bodyPr>
          <a:lstStyle/>
          <a:p>
            <a:pPr marL="0" indent="0">
              <a:buNone/>
            </a:pPr>
            <a:r>
              <a:rPr lang="en-IN" sz="1800" b="1" dirty="0" smtClean="0"/>
              <a:t>Future ML Approach</a:t>
            </a:r>
            <a:br>
              <a:rPr lang="en-IN" sz="1800" b="1" dirty="0" smtClean="0"/>
            </a:br>
            <a:r>
              <a:rPr lang="en-IN" sz="1800" dirty="0" smtClean="0"/>
              <a:t/>
            </a:r>
            <a:br>
              <a:rPr lang="en-IN" sz="1800" dirty="0" smtClean="0"/>
            </a:br>
            <a:r>
              <a:rPr lang="en-IN" sz="1800" dirty="0" smtClean="0"/>
              <a:t>Target Prediction</a:t>
            </a:r>
          </a:p>
          <a:p>
            <a:pPr marL="0" indent="0">
              <a:buNone/>
            </a:pPr>
            <a:r>
              <a:rPr lang="en-IN" sz="1800" dirty="0" smtClean="0"/>
              <a:t>• Machine Failure Risk</a:t>
            </a:r>
          </a:p>
          <a:p>
            <a:pPr marL="0" indent="0">
              <a:buNone/>
            </a:pPr>
            <a:r>
              <a:rPr lang="en-IN" sz="1800" dirty="0" smtClean="0"/>
              <a:t>• Remaining Useful Life (RUL)</a:t>
            </a:r>
          </a:p>
          <a:p>
            <a:pPr marL="0" indent="0">
              <a:buNone/>
            </a:pPr>
            <a:r>
              <a:rPr lang="en-IN" sz="1800" dirty="0" smtClean="0"/>
              <a:t>Model Candidates</a:t>
            </a:r>
          </a:p>
          <a:p>
            <a:pPr marL="0" indent="0">
              <a:buNone/>
            </a:pPr>
            <a:r>
              <a:rPr lang="en-IN" sz="1800" dirty="0" smtClean="0"/>
              <a:t>• Random Forest</a:t>
            </a:r>
          </a:p>
          <a:p>
            <a:pPr marL="0" indent="0">
              <a:buNone/>
            </a:pPr>
            <a:r>
              <a:rPr lang="en-IN" sz="1800" dirty="0" smtClean="0"/>
              <a:t>• </a:t>
            </a:r>
            <a:r>
              <a:rPr lang="en-IN" sz="1800" dirty="0" err="1" smtClean="0"/>
              <a:t>XGBoost</a:t>
            </a:r>
            <a:endParaRPr lang="en-IN" sz="1800" dirty="0" smtClean="0"/>
          </a:p>
          <a:p>
            <a:pPr marL="0" indent="0">
              <a:buNone/>
            </a:pPr>
            <a:r>
              <a:rPr lang="en-IN" sz="1800" dirty="0" smtClean="0"/>
              <a:t>Validation</a:t>
            </a:r>
          </a:p>
          <a:p>
            <a:pPr marL="0" indent="0">
              <a:buNone/>
            </a:pPr>
            <a:r>
              <a:rPr lang="en-IN" sz="1800" dirty="0" smtClean="0"/>
              <a:t>• Time-Based Split </a:t>
            </a:r>
          </a:p>
          <a:p>
            <a:pPr marL="0" indent="0">
              <a:buNone/>
            </a:pPr>
            <a:r>
              <a:rPr lang="en-IN" sz="1800" dirty="0" smtClean="0"/>
              <a:t>• Cross Validation</a:t>
            </a:r>
          </a:p>
          <a:p>
            <a:pPr marL="0" indent="0">
              <a:buNone/>
            </a:pPr>
            <a:r>
              <a:rPr lang="en-IN" sz="1800" dirty="0" smtClean="0"/>
              <a:t>Safe Deployment</a:t>
            </a:r>
          </a:p>
          <a:p>
            <a:pPr marL="0" indent="0">
              <a:buNone/>
            </a:pPr>
            <a:r>
              <a:rPr lang="en-IN" sz="1800" dirty="0" smtClean="0"/>
              <a:t>• Drift Monitoring</a:t>
            </a:r>
          </a:p>
          <a:p>
            <a:pPr marL="0" indent="0">
              <a:buNone/>
            </a:pPr>
            <a:r>
              <a:rPr lang="en-IN" sz="1800" dirty="0" smtClean="0"/>
              <a:t>• Human Review</a:t>
            </a:r>
          </a:p>
          <a:p>
            <a:pPr marL="0" indent="0">
              <a:buNone/>
            </a:pPr>
            <a:r>
              <a:rPr lang="en-US" sz="1800" b="1" dirty="0" smtClean="0"/>
              <a:t>• </a:t>
            </a:r>
            <a:r>
              <a:rPr lang="en-US" sz="1800" dirty="0" smtClean="0"/>
              <a:t>Target: Failure within Next 7 Days</a:t>
            </a:r>
            <a:endParaRPr lang="en-IN" sz="1800" dirty="0"/>
          </a:p>
        </p:txBody>
      </p:sp>
      <p:sp>
        <p:nvSpPr>
          <p:cNvPr id="5" name="TextBox 4"/>
          <p:cNvSpPr txBox="1"/>
          <p:nvPr/>
        </p:nvSpPr>
        <p:spPr>
          <a:xfrm>
            <a:off x="617804" y="5257379"/>
            <a:ext cx="8358388" cy="646331"/>
          </a:xfrm>
          <a:prstGeom prst="rect">
            <a:avLst/>
          </a:prstGeom>
          <a:noFill/>
        </p:spPr>
        <p:txBody>
          <a:bodyPr wrap="square" rtlCol="0">
            <a:spAutoFit/>
          </a:bodyPr>
          <a:lstStyle/>
          <a:p>
            <a:r>
              <a:rPr lang="en-US" b="1" i="1" dirty="0" smtClean="0"/>
              <a:t>ML will be introduced only after sufficient historical labeled data becomes available. Until then, an explainable rule-based scoring approach will be used.</a:t>
            </a:r>
            <a:endParaRPr lang="en-IN" b="1" i="1" dirty="0"/>
          </a:p>
        </p:txBody>
      </p:sp>
      <p:sp>
        <p:nvSpPr>
          <p:cNvPr id="6" name="Rounded Rectangle 5"/>
          <p:cNvSpPr/>
          <p:nvPr/>
        </p:nvSpPr>
        <p:spPr>
          <a:xfrm>
            <a:off x="8407022" y="5885645"/>
            <a:ext cx="3176452" cy="824248"/>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No Data Leakage </a:t>
            </a:r>
            <a:br>
              <a:rPr lang="en-US" dirty="0" smtClean="0"/>
            </a:br>
            <a:r>
              <a:rPr lang="en-US" dirty="0" smtClean="0"/>
              <a:t>Train using historical data only</a:t>
            </a:r>
            <a:br>
              <a:rPr lang="en-US" dirty="0" smtClean="0"/>
            </a:br>
            <a:r>
              <a:rPr lang="en-US" dirty="0" smtClean="0"/>
              <a:t>Never use future failures</a:t>
            </a:r>
            <a:endParaRPr lang="en-IN" dirty="0"/>
          </a:p>
        </p:txBody>
      </p:sp>
    </p:spTree>
    <p:extLst>
      <p:ext uri="{BB962C8B-B14F-4D97-AF65-F5344CB8AC3E}">
        <p14:creationId xmlns:p14="http://schemas.microsoft.com/office/powerpoint/2010/main" val="1956883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89058" y="403763"/>
            <a:ext cx="3922178" cy="472002"/>
          </a:xfrm>
        </p:spPr>
        <p:txBody>
          <a:bodyPr>
            <a:noAutofit/>
          </a:bodyPr>
          <a:lstStyle/>
          <a:p>
            <a:r>
              <a:rPr lang="en-IN" sz="2400" b="1" dirty="0" smtClean="0">
                <a:solidFill>
                  <a:schemeClr val="accent5">
                    <a:lumMod val="50000"/>
                  </a:schemeClr>
                </a:solidFill>
                <a:latin typeface="+mn-lt"/>
              </a:rPr>
              <a:t>Backend-Facing API Design</a:t>
            </a:r>
            <a:endParaRPr lang="en-IN" sz="2400" b="1" dirty="0">
              <a:solidFill>
                <a:schemeClr val="accent5">
                  <a:lumMod val="50000"/>
                </a:schemeClr>
              </a:solidFill>
              <a:latin typeface="+mn-l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568345405"/>
              </p:ext>
            </p:extLst>
          </p:nvPr>
        </p:nvGraphicFramePr>
        <p:xfrm>
          <a:off x="979309" y="1284378"/>
          <a:ext cx="10515600" cy="2936240"/>
        </p:xfrm>
        <a:graphic>
          <a:graphicData uri="http://schemas.openxmlformats.org/drawingml/2006/table">
            <a:tbl>
              <a:tblPr firstRow="1" bandRow="1">
                <a:tableStyleId>{5C22544A-7EE6-4342-B048-85BDC9FD1C3A}</a:tableStyleId>
              </a:tblPr>
              <a:tblGrid>
                <a:gridCol w="2628900"/>
                <a:gridCol w="2628900"/>
                <a:gridCol w="2628900"/>
                <a:gridCol w="2628900"/>
              </a:tblGrid>
              <a:tr h="370840">
                <a:tc>
                  <a:txBody>
                    <a:bodyPr/>
                    <a:lstStyle/>
                    <a:p>
                      <a:r>
                        <a:rPr lang="en-IN" dirty="0" smtClean="0"/>
                        <a:t>Endpoint</a:t>
                      </a:r>
                      <a:endParaRPr lang="en-IN" dirty="0"/>
                    </a:p>
                  </a:txBody>
                  <a:tcPr/>
                </a:tc>
                <a:tc>
                  <a:txBody>
                    <a:bodyPr/>
                    <a:lstStyle/>
                    <a:p>
                      <a:r>
                        <a:rPr lang="en-IN" dirty="0" smtClean="0"/>
                        <a:t>Method</a:t>
                      </a:r>
                      <a:endParaRPr lang="en-IN" dirty="0"/>
                    </a:p>
                  </a:txBody>
                  <a:tcPr/>
                </a:tc>
                <a:tc>
                  <a:txBody>
                    <a:bodyPr/>
                    <a:lstStyle/>
                    <a:p>
                      <a:r>
                        <a:rPr lang="en-IN" dirty="0" smtClean="0"/>
                        <a:t>Purpose</a:t>
                      </a:r>
                      <a:endParaRPr lang="en-IN" dirty="0"/>
                    </a:p>
                  </a:txBody>
                  <a:tcPr/>
                </a:tc>
                <a:tc>
                  <a:txBody>
                    <a:bodyPr/>
                    <a:lstStyle/>
                    <a:p>
                      <a:r>
                        <a:rPr lang="en-IN" dirty="0" smtClean="0"/>
                        <a:t>Output</a:t>
                      </a:r>
                      <a:endParaRPr lang="en-IN" dirty="0"/>
                    </a:p>
                  </a:txBody>
                  <a:tcPr/>
                </a:tc>
              </a:tr>
              <a:tr h="370840">
                <a:tc>
                  <a:txBody>
                    <a:bodyPr/>
                    <a:lstStyle/>
                    <a:p>
                      <a:r>
                        <a:rPr lang="en-IN" dirty="0" smtClean="0"/>
                        <a:t>/</a:t>
                      </a:r>
                      <a:r>
                        <a:rPr lang="en-IN" dirty="0" err="1" smtClean="0"/>
                        <a:t>api</a:t>
                      </a:r>
                      <a:r>
                        <a:rPr lang="en-IN" dirty="0" smtClean="0"/>
                        <a:t>/v1/events/ingest</a:t>
                      </a:r>
                      <a:endParaRPr lang="en-IN" dirty="0"/>
                    </a:p>
                  </a:txBody>
                  <a:tcPr/>
                </a:tc>
                <a:tc>
                  <a:txBody>
                    <a:bodyPr/>
                    <a:lstStyle/>
                    <a:p>
                      <a:r>
                        <a:rPr lang="en-IN" dirty="0" smtClean="0"/>
                        <a:t>POST</a:t>
                      </a:r>
                      <a:endParaRPr lang="en-IN" dirty="0"/>
                    </a:p>
                  </a:txBody>
                  <a:tcPr/>
                </a:tc>
                <a:tc>
                  <a:txBody>
                    <a:bodyPr/>
                    <a:lstStyle/>
                    <a:p>
                      <a:r>
                        <a:rPr lang="en-IN" dirty="0" smtClean="0"/>
                        <a:t>Ingest vendor data</a:t>
                      </a:r>
                      <a:endParaRPr lang="en-IN" dirty="0"/>
                    </a:p>
                  </a:txBody>
                  <a:tcPr/>
                </a:tc>
                <a:tc>
                  <a:txBody>
                    <a:bodyPr/>
                    <a:lstStyle/>
                    <a:p>
                      <a:r>
                        <a:rPr lang="en-IN" dirty="0" smtClean="0"/>
                        <a:t>Trace ID</a:t>
                      </a:r>
                      <a:endParaRPr lang="en-IN" dirty="0"/>
                    </a:p>
                  </a:txBody>
                  <a:tcPr/>
                </a:tc>
              </a:tr>
              <a:tr h="370840">
                <a:tc>
                  <a:txBody>
                    <a:bodyPr/>
                    <a:lstStyle/>
                    <a:p>
                      <a:r>
                        <a:rPr lang="en-IN" dirty="0" smtClean="0"/>
                        <a:t>/</a:t>
                      </a:r>
                      <a:r>
                        <a:rPr lang="en-IN" dirty="0" err="1" smtClean="0"/>
                        <a:t>api</a:t>
                      </a:r>
                      <a:r>
                        <a:rPr lang="en-IN" dirty="0" smtClean="0"/>
                        <a:t>/v1/machines/{</a:t>
                      </a:r>
                      <a:r>
                        <a:rPr lang="en-IN" dirty="0" err="1" smtClean="0"/>
                        <a:t>machine_id</a:t>
                      </a:r>
                      <a:r>
                        <a:rPr lang="en-IN" dirty="0" smtClean="0"/>
                        <a:t>}/score</a:t>
                      </a:r>
                      <a:endParaRPr lang="en-IN" dirty="0"/>
                    </a:p>
                  </a:txBody>
                  <a:tcPr/>
                </a:tc>
                <a:tc>
                  <a:txBody>
                    <a:bodyPr/>
                    <a:lstStyle/>
                    <a:p>
                      <a:r>
                        <a:rPr lang="en-IN" dirty="0" smtClean="0"/>
                        <a:t>GET</a:t>
                      </a:r>
                      <a:endParaRPr lang="en-IN" dirty="0"/>
                    </a:p>
                  </a:txBody>
                  <a:tcPr/>
                </a:tc>
                <a:tc>
                  <a:txBody>
                    <a:bodyPr/>
                    <a:lstStyle/>
                    <a:p>
                      <a:r>
                        <a:rPr lang="en-IN" dirty="0" smtClean="0"/>
                        <a:t>Get machine score</a:t>
                      </a:r>
                      <a:endParaRPr lang="en-IN" dirty="0"/>
                    </a:p>
                  </a:txBody>
                  <a:tcPr/>
                </a:tc>
                <a:tc>
                  <a:txBody>
                    <a:bodyPr/>
                    <a:lstStyle/>
                    <a:p>
                      <a:r>
                        <a:rPr lang="en-IN" dirty="0" smtClean="0"/>
                        <a:t>Health Score, Confidence Score, Readiness Score</a:t>
                      </a:r>
                      <a:endParaRPr lang="en-IN" dirty="0"/>
                    </a:p>
                  </a:txBody>
                  <a:tcPr/>
                </a:tc>
              </a:tr>
              <a:tr h="370840">
                <a:tc>
                  <a:txBody>
                    <a:bodyPr/>
                    <a:lstStyle/>
                    <a:p>
                      <a:r>
                        <a:rPr lang="en-IN" dirty="0" smtClean="0"/>
                        <a:t>/</a:t>
                      </a:r>
                      <a:r>
                        <a:rPr lang="en-IN" dirty="0" err="1" smtClean="0"/>
                        <a:t>api</a:t>
                      </a:r>
                      <a:r>
                        <a:rPr lang="en-IN" dirty="0" smtClean="0"/>
                        <a:t>/v1/lines/{</a:t>
                      </a:r>
                      <a:r>
                        <a:rPr lang="en-IN" dirty="0" err="1" smtClean="0"/>
                        <a:t>line_id</a:t>
                      </a:r>
                      <a:r>
                        <a:rPr lang="en-IN" dirty="0" smtClean="0"/>
                        <a:t>}/</a:t>
                      </a:r>
                    </a:p>
                    <a:p>
                      <a:r>
                        <a:rPr lang="en-IN" dirty="0" smtClean="0"/>
                        <a:t>summary</a:t>
                      </a:r>
                      <a:endParaRPr lang="en-IN" dirty="0"/>
                    </a:p>
                  </a:txBody>
                  <a:tcPr/>
                </a:tc>
                <a:tc>
                  <a:txBody>
                    <a:bodyPr/>
                    <a:lstStyle/>
                    <a:p>
                      <a:r>
                        <a:rPr lang="en-IN" dirty="0" smtClean="0"/>
                        <a:t>GET</a:t>
                      </a:r>
                      <a:endParaRPr lang="en-IN" dirty="0"/>
                    </a:p>
                  </a:txBody>
                  <a:tcPr/>
                </a:tc>
                <a:tc>
                  <a:txBody>
                    <a:bodyPr/>
                    <a:lstStyle/>
                    <a:p>
                      <a:r>
                        <a:rPr lang="en-IN" dirty="0" smtClean="0"/>
                        <a:t>Line-level summary</a:t>
                      </a:r>
                      <a:endParaRPr lang="en-IN" dirty="0"/>
                    </a:p>
                  </a:txBody>
                  <a:tcPr/>
                </a:tc>
                <a:tc>
                  <a:txBody>
                    <a:bodyPr/>
                    <a:lstStyle/>
                    <a:p>
                      <a:r>
                        <a:rPr lang="en-IN" dirty="0" err="1" smtClean="0"/>
                        <a:t>Avg</a:t>
                      </a:r>
                      <a:r>
                        <a:rPr lang="en-IN" dirty="0" smtClean="0"/>
                        <a:t> Score, Risk </a:t>
                      </a:r>
                      <a:r>
                        <a:rPr lang="en-IN" dirty="0" err="1" smtClean="0"/>
                        <a:t>MachinAverage</a:t>
                      </a:r>
                      <a:r>
                        <a:rPr lang="en-IN" dirty="0" smtClean="0"/>
                        <a:t> Score,</a:t>
                      </a:r>
                      <a:br>
                        <a:rPr lang="en-IN" dirty="0" smtClean="0"/>
                      </a:br>
                      <a:r>
                        <a:rPr lang="en-IN" dirty="0" smtClean="0"/>
                        <a:t> At-Risk </a:t>
                      </a:r>
                      <a:r>
                        <a:rPr lang="en-IN" dirty="0" err="1" smtClean="0"/>
                        <a:t>Machineses</a:t>
                      </a:r>
                      <a:endParaRPr lang="en-IN" dirty="0"/>
                    </a:p>
                  </a:txBody>
                  <a:tcPr/>
                </a:tc>
              </a:tr>
              <a:tr h="370840">
                <a:tc>
                  <a:txBody>
                    <a:bodyPr/>
                    <a:lstStyle/>
                    <a:p>
                      <a:r>
                        <a:rPr lang="en-IN" dirty="0" smtClean="0"/>
                        <a:t>/</a:t>
                      </a:r>
                      <a:r>
                        <a:rPr lang="en-IN" dirty="0" err="1" smtClean="0"/>
                        <a:t>api</a:t>
                      </a:r>
                      <a:r>
                        <a:rPr lang="en-IN" dirty="0" smtClean="0"/>
                        <a:t>/v1/plants/{</a:t>
                      </a:r>
                      <a:r>
                        <a:rPr lang="en-IN" dirty="0" err="1" smtClean="0"/>
                        <a:t>plant_id</a:t>
                      </a:r>
                      <a:r>
                        <a:rPr lang="en-IN" dirty="0" smtClean="0"/>
                        <a:t>}/summary</a:t>
                      </a:r>
                      <a:endParaRPr lang="en-IN" dirty="0"/>
                    </a:p>
                  </a:txBody>
                  <a:tcPr/>
                </a:tc>
                <a:tc>
                  <a:txBody>
                    <a:bodyPr/>
                    <a:lstStyle/>
                    <a:p>
                      <a:r>
                        <a:rPr lang="en-IN" dirty="0" smtClean="0"/>
                        <a:t>GET</a:t>
                      </a:r>
                      <a:endParaRPr lang="en-IN" dirty="0"/>
                    </a:p>
                  </a:txBody>
                  <a:tcPr/>
                </a:tc>
                <a:tc>
                  <a:txBody>
                    <a:bodyPr/>
                    <a:lstStyle/>
                    <a:p>
                      <a:r>
                        <a:rPr lang="en-IN" dirty="0" smtClean="0"/>
                        <a:t>Plant-level summary</a:t>
                      </a:r>
                      <a:endParaRPr lang="en-IN" dirty="0"/>
                    </a:p>
                  </a:txBody>
                  <a:tcPr/>
                </a:tc>
                <a:tc>
                  <a:txBody>
                    <a:bodyPr/>
                    <a:lstStyle/>
                    <a:p>
                      <a:r>
                        <a:rPr lang="en-IN" dirty="0" smtClean="0"/>
                        <a:t>Health Overview</a:t>
                      </a:r>
                      <a:endParaRPr lang="en-IN" dirty="0"/>
                    </a:p>
                  </a:txBody>
                  <a:tcPr/>
                </a:tc>
              </a:tr>
            </a:tbl>
          </a:graphicData>
        </a:graphic>
      </p:graphicFrame>
      <p:sp>
        <p:nvSpPr>
          <p:cNvPr id="5" name="TextBox 4"/>
          <p:cNvSpPr txBox="1"/>
          <p:nvPr/>
        </p:nvSpPr>
        <p:spPr>
          <a:xfrm>
            <a:off x="880953" y="4023398"/>
            <a:ext cx="9994006" cy="2031325"/>
          </a:xfrm>
          <a:prstGeom prst="rect">
            <a:avLst/>
          </a:prstGeom>
          <a:noFill/>
        </p:spPr>
        <p:txBody>
          <a:bodyPr wrap="square" rtlCol="0">
            <a:spAutoFit/>
          </a:bodyPr>
          <a:lstStyle/>
          <a:p>
            <a:r>
              <a:rPr lang="en-US" b="1" i="1" dirty="0" smtClean="0"/>
              <a:t>Every API response includes:</a:t>
            </a:r>
            <a:br>
              <a:rPr lang="en-US" b="1" i="1" dirty="0" smtClean="0"/>
            </a:br>
            <a:r>
              <a:rPr lang="en-US" b="1" i="1" dirty="0" smtClean="0"/>
              <a:t>• </a:t>
            </a:r>
            <a:r>
              <a:rPr lang="en-US" b="1" i="1" dirty="0" err="1" smtClean="0"/>
              <a:t>trace_id</a:t>
            </a:r>
            <a:endParaRPr lang="en-US" b="1" i="1" dirty="0" smtClean="0"/>
          </a:p>
          <a:p>
            <a:r>
              <a:rPr lang="en-US" b="1" i="1" dirty="0" smtClean="0"/>
              <a:t>• </a:t>
            </a:r>
            <a:r>
              <a:rPr lang="en-US" b="1" i="1" dirty="0" err="1" smtClean="0"/>
              <a:t>request_id</a:t>
            </a:r>
            <a:endParaRPr lang="en-US" b="1" i="1" dirty="0" smtClean="0"/>
          </a:p>
          <a:p>
            <a:r>
              <a:rPr lang="en-US" b="1" i="1" dirty="0" smtClean="0"/>
              <a:t>• timestamp</a:t>
            </a:r>
          </a:p>
          <a:p>
            <a:r>
              <a:rPr lang="en-US" b="1" i="1" dirty="0" smtClean="0"/>
              <a:t>• </a:t>
            </a:r>
            <a:r>
              <a:rPr lang="en-US" b="1" i="1" dirty="0" err="1" smtClean="0"/>
              <a:t>data_version</a:t>
            </a:r>
            <a:endParaRPr lang="en-US" b="1" i="1" dirty="0" smtClean="0"/>
          </a:p>
          <a:p>
            <a:r>
              <a:rPr lang="en-US" b="1" i="1" dirty="0" smtClean="0"/>
              <a:t>• </a:t>
            </a:r>
            <a:r>
              <a:rPr lang="en-US" b="1" i="1" dirty="0" err="1" smtClean="0"/>
              <a:t>score_version</a:t>
            </a:r>
            <a:endParaRPr lang="en-US" b="1" i="1" dirty="0" smtClean="0"/>
          </a:p>
          <a:p>
            <a:r>
              <a:rPr lang="en-US" b="1" i="1" dirty="0" smtClean="0"/>
              <a:t>• </a:t>
            </a:r>
            <a:r>
              <a:rPr lang="en-US" b="1" i="1" dirty="0" err="1" smtClean="0"/>
              <a:t>error_code</a:t>
            </a:r>
            <a:endParaRPr lang="en-US" b="1" i="1" dirty="0" smtClean="0"/>
          </a:p>
        </p:txBody>
      </p:sp>
    </p:spTree>
    <p:extLst>
      <p:ext uri="{BB962C8B-B14F-4D97-AF65-F5344CB8AC3E}">
        <p14:creationId xmlns:p14="http://schemas.microsoft.com/office/powerpoint/2010/main" val="4165556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01543" y="-62160"/>
            <a:ext cx="4446672" cy="461665"/>
          </a:xfrm>
          <a:prstGeom prst="rect">
            <a:avLst/>
          </a:prstGeom>
          <a:noFill/>
        </p:spPr>
        <p:txBody>
          <a:bodyPr wrap="square" rtlCol="0">
            <a:spAutoFit/>
          </a:bodyPr>
          <a:lstStyle/>
          <a:p>
            <a:r>
              <a:rPr lang="en-IN" sz="2400" b="1" dirty="0" smtClean="0">
                <a:solidFill>
                  <a:schemeClr val="accent5">
                    <a:lumMod val="50000"/>
                  </a:schemeClr>
                </a:solidFill>
              </a:rPr>
              <a:t>High-Level System Architecture</a:t>
            </a:r>
            <a:endParaRPr lang="en-IN" sz="2400" b="1" dirty="0">
              <a:solidFill>
                <a:schemeClr val="accent5">
                  <a:lumMod val="50000"/>
                </a:schemeClr>
              </a:solidFill>
            </a:endParaRPr>
          </a:p>
        </p:txBody>
      </p:sp>
      <p:sp>
        <p:nvSpPr>
          <p:cNvPr id="3" name="Rounded Rectangle 2"/>
          <p:cNvSpPr/>
          <p:nvPr/>
        </p:nvSpPr>
        <p:spPr>
          <a:xfrm>
            <a:off x="5138670" y="464264"/>
            <a:ext cx="1687132" cy="643944"/>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smtClean="0">
                <a:solidFill>
                  <a:schemeClr val="tx1"/>
                </a:solidFill>
              </a:rPr>
              <a:t>Vendor APIs</a:t>
            </a:r>
          </a:p>
          <a:p>
            <a:pPr algn="ctr"/>
            <a:r>
              <a:rPr lang="pt-BR" dirty="0" smtClean="0">
                <a:solidFill>
                  <a:schemeClr val="tx1"/>
                </a:solidFill>
              </a:rPr>
              <a:t>Vendor A,B,C</a:t>
            </a:r>
          </a:p>
        </p:txBody>
      </p:sp>
      <p:sp>
        <p:nvSpPr>
          <p:cNvPr id="4" name="Rounded Rectangle 3"/>
          <p:cNvSpPr/>
          <p:nvPr/>
        </p:nvSpPr>
        <p:spPr>
          <a:xfrm>
            <a:off x="4571998" y="1462093"/>
            <a:ext cx="3000778" cy="308823"/>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Data Ingestion API Gateway</a:t>
            </a:r>
            <a:endParaRPr lang="en-IN" dirty="0">
              <a:solidFill>
                <a:schemeClr val="tx1"/>
              </a:solidFill>
            </a:endParaRPr>
          </a:p>
        </p:txBody>
      </p:sp>
      <p:sp>
        <p:nvSpPr>
          <p:cNvPr id="5" name="Rounded Rectangle 4"/>
          <p:cNvSpPr/>
          <p:nvPr/>
        </p:nvSpPr>
        <p:spPr>
          <a:xfrm>
            <a:off x="4137335" y="2056513"/>
            <a:ext cx="4411017" cy="398988"/>
          </a:xfrm>
          <a:prstGeom prst="round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chemeClr val="tx1"/>
                </a:solidFill>
              </a:rPr>
              <a:t>Raw Data Storage CSV | JSON | Audit Logs</a:t>
            </a:r>
            <a:endParaRPr lang="en-IN" dirty="0">
              <a:solidFill>
                <a:schemeClr val="tx1"/>
              </a:solidFill>
            </a:endParaRPr>
          </a:p>
        </p:txBody>
      </p:sp>
      <p:sp>
        <p:nvSpPr>
          <p:cNvPr id="6" name="Rounded Rectangle 5"/>
          <p:cNvSpPr/>
          <p:nvPr/>
        </p:nvSpPr>
        <p:spPr>
          <a:xfrm>
            <a:off x="4501165" y="2749040"/>
            <a:ext cx="3142447" cy="372302"/>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Validation &amp; Normalization</a:t>
            </a:r>
            <a:endParaRPr lang="en-IN" dirty="0"/>
          </a:p>
        </p:txBody>
      </p:sp>
      <p:sp>
        <p:nvSpPr>
          <p:cNvPr id="8" name="Rounded Rectangle 7"/>
          <p:cNvSpPr/>
          <p:nvPr/>
        </p:nvSpPr>
        <p:spPr>
          <a:xfrm>
            <a:off x="4333738" y="4149495"/>
            <a:ext cx="3483737" cy="456211"/>
          </a:xfrm>
          <a:prstGeom prst="round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Machine Health Scoring Engine</a:t>
            </a:r>
            <a:endParaRPr lang="en-IN" dirty="0"/>
          </a:p>
        </p:txBody>
      </p:sp>
      <p:sp>
        <p:nvSpPr>
          <p:cNvPr id="10" name="Rounded Rectangle 9"/>
          <p:cNvSpPr/>
          <p:nvPr/>
        </p:nvSpPr>
        <p:spPr>
          <a:xfrm>
            <a:off x="5138663" y="4876199"/>
            <a:ext cx="1635616" cy="334098"/>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Backend APIs</a:t>
            </a:r>
            <a:endParaRPr lang="en-IN" dirty="0"/>
          </a:p>
        </p:txBody>
      </p:sp>
      <p:sp>
        <p:nvSpPr>
          <p:cNvPr id="11" name="Rounded Rectangle 10"/>
          <p:cNvSpPr/>
          <p:nvPr/>
        </p:nvSpPr>
        <p:spPr>
          <a:xfrm>
            <a:off x="4737814" y="5538936"/>
            <a:ext cx="2669145" cy="559343"/>
          </a:xfrm>
          <a:prstGeom prst="round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Dashboard / Monitoring</a:t>
            </a:r>
            <a:endParaRPr lang="en-IN" dirty="0"/>
          </a:p>
        </p:txBody>
      </p:sp>
      <p:sp>
        <p:nvSpPr>
          <p:cNvPr id="12" name="Rounded Rectangle 11"/>
          <p:cNvSpPr/>
          <p:nvPr/>
        </p:nvSpPr>
        <p:spPr>
          <a:xfrm>
            <a:off x="4893972" y="3345643"/>
            <a:ext cx="2176528" cy="463640"/>
          </a:xfrm>
          <a:prstGeom prst="round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t>Feature Engineering</a:t>
            </a:r>
            <a:endParaRPr lang="en-IN" dirty="0"/>
          </a:p>
        </p:txBody>
      </p:sp>
      <p:sp>
        <p:nvSpPr>
          <p:cNvPr id="13" name="TextBox 12"/>
          <p:cNvSpPr txBox="1"/>
          <p:nvPr/>
        </p:nvSpPr>
        <p:spPr>
          <a:xfrm>
            <a:off x="3174640" y="6211669"/>
            <a:ext cx="6059504" cy="646331"/>
          </a:xfrm>
          <a:prstGeom prst="rect">
            <a:avLst/>
          </a:prstGeom>
          <a:noFill/>
        </p:spPr>
        <p:txBody>
          <a:bodyPr wrap="square" rtlCol="0">
            <a:spAutoFit/>
          </a:bodyPr>
          <a:lstStyle/>
          <a:p>
            <a:r>
              <a:rPr lang="en-US" b="1" i="1" dirty="0" smtClean="0"/>
              <a:t>Supports multi-vendor ingestion, traceable processing , </a:t>
            </a:r>
            <a:br>
              <a:rPr lang="en-US" b="1" i="1" dirty="0" smtClean="0"/>
            </a:br>
            <a:r>
              <a:rPr lang="en-US" b="1" i="1" dirty="0" smtClean="0"/>
              <a:t>explainable scoring, API serving, and future ML deployment</a:t>
            </a:r>
            <a:r>
              <a:rPr lang="en-US" b="1" dirty="0" smtClean="0"/>
              <a:t>.</a:t>
            </a:r>
            <a:endParaRPr lang="en-IN" b="1" dirty="0"/>
          </a:p>
        </p:txBody>
      </p:sp>
      <p:cxnSp>
        <p:nvCxnSpPr>
          <p:cNvPr id="15" name="Straight Arrow Connector 14"/>
          <p:cNvCxnSpPr/>
          <p:nvPr/>
        </p:nvCxnSpPr>
        <p:spPr>
          <a:xfrm>
            <a:off x="5950024" y="1111712"/>
            <a:ext cx="6447" cy="3503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5982236" y="1770916"/>
            <a:ext cx="0" cy="27669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5956471" y="2466311"/>
            <a:ext cx="2" cy="25732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5950023" y="3117660"/>
            <a:ext cx="1" cy="22798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flipH="1">
            <a:off x="5975789" y="3835041"/>
            <a:ext cx="6447" cy="30437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endCxn id="10" idx="0"/>
          </p:cNvCxnSpPr>
          <p:nvPr/>
        </p:nvCxnSpPr>
        <p:spPr>
          <a:xfrm>
            <a:off x="5950023" y="4626140"/>
            <a:ext cx="6448" cy="25005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H="1">
            <a:off x="5975788" y="5241741"/>
            <a:ext cx="6448" cy="3005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43808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42008" y="146185"/>
            <a:ext cx="3875468" cy="472002"/>
          </a:xfrm>
        </p:spPr>
        <p:txBody>
          <a:bodyPr>
            <a:normAutofit fontScale="90000"/>
          </a:bodyPr>
          <a:lstStyle/>
          <a:p>
            <a:r>
              <a:rPr lang="en-IN" sz="2400" b="1" dirty="0" smtClean="0">
                <a:solidFill>
                  <a:schemeClr val="accent5">
                    <a:lumMod val="50000"/>
                  </a:schemeClr>
                </a:solidFill>
                <a:latin typeface="+mn-lt"/>
              </a:rPr>
              <a:t>Conclusion &amp; Future Roadmap</a:t>
            </a:r>
            <a:endParaRPr lang="en-IN" sz="2400" b="1" dirty="0">
              <a:solidFill>
                <a:schemeClr val="accent5">
                  <a:lumMod val="50000"/>
                </a:schemeClr>
              </a:solidFill>
              <a:latin typeface="+mn-lt"/>
            </a:endParaRPr>
          </a:p>
        </p:txBody>
      </p:sp>
      <p:sp>
        <p:nvSpPr>
          <p:cNvPr id="3" name="Content Placeholder 2"/>
          <p:cNvSpPr>
            <a:spLocks noGrp="1"/>
          </p:cNvSpPr>
          <p:nvPr>
            <p:ph sz="half" idx="1"/>
          </p:nvPr>
        </p:nvSpPr>
        <p:spPr>
          <a:xfrm>
            <a:off x="990600" y="1068665"/>
            <a:ext cx="5181600" cy="4351338"/>
          </a:xfrm>
        </p:spPr>
        <p:txBody>
          <a:bodyPr>
            <a:normAutofit/>
          </a:bodyPr>
          <a:lstStyle/>
          <a:p>
            <a:pPr marL="0" indent="0">
              <a:buNone/>
            </a:pPr>
            <a:r>
              <a:rPr lang="en-IN" sz="1800" b="1" dirty="0" smtClean="0"/>
              <a:t>Assessment Outcomes</a:t>
            </a:r>
            <a:br>
              <a:rPr lang="en-IN" sz="1800" b="1" dirty="0" smtClean="0"/>
            </a:br>
            <a:r>
              <a:rPr lang="en-IN" sz="1800" dirty="0" smtClean="0"/>
              <a:t/>
            </a:r>
            <a:br>
              <a:rPr lang="en-IN" sz="1800" dirty="0" smtClean="0"/>
            </a:br>
            <a:r>
              <a:rPr lang="en-IN" sz="1800" dirty="0" smtClean="0"/>
              <a:t>✓ Integrated multi-vendor industrial datasets</a:t>
            </a:r>
          </a:p>
          <a:p>
            <a:pPr marL="0" indent="0">
              <a:buNone/>
            </a:pPr>
            <a:endParaRPr lang="en-IN" sz="1800" dirty="0" smtClean="0"/>
          </a:p>
          <a:p>
            <a:pPr marL="0" indent="0">
              <a:buNone/>
            </a:pPr>
            <a:r>
              <a:rPr lang="en-IN" sz="1800" dirty="0" smtClean="0"/>
              <a:t>✓ Designed a normalized machine-level data model</a:t>
            </a:r>
          </a:p>
          <a:p>
            <a:pPr marL="0" indent="0">
              <a:buNone/>
            </a:pPr>
            <a:endParaRPr lang="en-IN" sz="1800" dirty="0" smtClean="0"/>
          </a:p>
          <a:p>
            <a:pPr marL="0" indent="0">
              <a:buNone/>
            </a:pPr>
            <a:r>
              <a:rPr lang="en-IN" sz="1800" dirty="0" smtClean="0"/>
              <a:t>✓ </a:t>
            </a:r>
            <a:r>
              <a:rPr lang="en-US" sz="1800" dirty="0" smtClean="0"/>
              <a:t>Designed an explainable Health, Confidence,</a:t>
            </a:r>
          </a:p>
          <a:p>
            <a:pPr marL="0" indent="0">
              <a:buNone/>
            </a:pPr>
            <a:r>
              <a:rPr lang="en-US" sz="1800" dirty="0" smtClean="0"/>
              <a:t>and Readiness scoring framework</a:t>
            </a:r>
            <a:br>
              <a:rPr lang="en-US" sz="1800" dirty="0" smtClean="0"/>
            </a:br>
            <a:endParaRPr lang="en-IN" sz="1800" dirty="0" smtClean="0"/>
          </a:p>
          <a:p>
            <a:pPr marL="0" indent="0">
              <a:buNone/>
            </a:pPr>
            <a:r>
              <a:rPr lang="en-IN" sz="1800" dirty="0" smtClean="0"/>
              <a:t>✓ Proposed backend-facing APIs for machine and plant insights</a:t>
            </a:r>
          </a:p>
          <a:p>
            <a:pPr marL="0" indent="0">
              <a:buNone/>
            </a:pPr>
            <a:endParaRPr lang="en-IN" sz="1800" dirty="0" smtClean="0"/>
          </a:p>
          <a:p>
            <a:pPr marL="0" indent="0">
              <a:buNone/>
            </a:pPr>
            <a:r>
              <a:rPr lang="en-IN" sz="1800" dirty="0" smtClean="0"/>
              <a:t>✓ Designed a scalable data processing architecture</a:t>
            </a:r>
            <a:endParaRPr lang="en-IN" sz="1800" dirty="0"/>
          </a:p>
        </p:txBody>
      </p:sp>
      <p:sp>
        <p:nvSpPr>
          <p:cNvPr id="4" name="Content Placeholder 3"/>
          <p:cNvSpPr>
            <a:spLocks noGrp="1"/>
          </p:cNvSpPr>
          <p:nvPr>
            <p:ph sz="half" idx="2"/>
          </p:nvPr>
        </p:nvSpPr>
        <p:spPr>
          <a:xfrm>
            <a:off x="6172200" y="1068665"/>
            <a:ext cx="5181600" cy="4351338"/>
          </a:xfrm>
        </p:spPr>
        <p:txBody>
          <a:bodyPr>
            <a:normAutofit/>
          </a:bodyPr>
          <a:lstStyle/>
          <a:p>
            <a:pPr marL="0" indent="0">
              <a:buNone/>
            </a:pPr>
            <a:r>
              <a:rPr lang="en-IN" sz="1800" b="1" dirty="0" smtClean="0"/>
              <a:t>Future Roadmap</a:t>
            </a:r>
            <a:br>
              <a:rPr lang="en-IN" sz="1800" b="1" dirty="0" smtClean="0"/>
            </a:br>
            <a:r>
              <a:rPr lang="en-IN" sz="1800" b="1" dirty="0" smtClean="0"/>
              <a:t/>
            </a:r>
            <a:br>
              <a:rPr lang="en-IN" sz="1800" b="1" dirty="0" smtClean="0"/>
            </a:br>
            <a:r>
              <a:rPr lang="en-IN" sz="1800" dirty="0" smtClean="0"/>
              <a:t>✓ Predictive Maintenance using Machine Learning</a:t>
            </a:r>
          </a:p>
          <a:p>
            <a:pPr marL="0" indent="0">
              <a:buNone/>
            </a:pPr>
            <a:endParaRPr lang="en-IN" sz="1800" dirty="0" smtClean="0"/>
          </a:p>
          <a:p>
            <a:pPr marL="0" indent="0">
              <a:buNone/>
            </a:pPr>
            <a:r>
              <a:rPr lang="en-IN" sz="1800" dirty="0" smtClean="0"/>
              <a:t>✓ Remaining Useful Life (RUL) Prediction</a:t>
            </a:r>
          </a:p>
          <a:p>
            <a:pPr marL="0" indent="0">
              <a:buNone/>
            </a:pPr>
            <a:endParaRPr lang="en-IN" sz="1800" dirty="0" smtClean="0"/>
          </a:p>
          <a:p>
            <a:pPr marL="0" indent="0">
              <a:buNone/>
            </a:pPr>
            <a:r>
              <a:rPr lang="en-IN" sz="1800" dirty="0" smtClean="0"/>
              <a:t>✓ Real-time Streaming (Kafka / MQTT)</a:t>
            </a:r>
          </a:p>
          <a:p>
            <a:pPr marL="0" indent="0">
              <a:buNone/>
            </a:pPr>
            <a:endParaRPr lang="en-IN" sz="1800" dirty="0" smtClean="0"/>
          </a:p>
          <a:p>
            <a:pPr marL="0" indent="0">
              <a:buNone/>
            </a:pPr>
            <a:r>
              <a:rPr lang="en-IN" sz="1800" dirty="0" smtClean="0"/>
              <a:t>✓ Automated Anomaly Detection</a:t>
            </a:r>
          </a:p>
          <a:p>
            <a:pPr marL="0" indent="0">
              <a:buNone/>
            </a:pPr>
            <a:endParaRPr lang="en-IN" sz="1800" dirty="0" smtClean="0"/>
          </a:p>
          <a:p>
            <a:pPr marL="0" indent="0">
              <a:buNone/>
            </a:pPr>
            <a:r>
              <a:rPr lang="en-IN" sz="1800" dirty="0" smtClean="0"/>
              <a:t>✓ Continuous Model Monitoring,</a:t>
            </a:r>
          </a:p>
          <a:p>
            <a:pPr marL="0" indent="0">
              <a:buNone/>
            </a:pPr>
            <a:r>
              <a:rPr lang="en-IN" sz="1800" dirty="0" smtClean="0"/>
              <a:t>Drift Detection &amp; Retraining</a:t>
            </a:r>
            <a:endParaRPr lang="en-IN" sz="1800" dirty="0"/>
          </a:p>
        </p:txBody>
      </p:sp>
      <p:sp>
        <p:nvSpPr>
          <p:cNvPr id="7" name="TextBox 6"/>
          <p:cNvSpPr txBox="1"/>
          <p:nvPr/>
        </p:nvSpPr>
        <p:spPr>
          <a:xfrm>
            <a:off x="1005088" y="5640946"/>
            <a:ext cx="9749307" cy="646331"/>
          </a:xfrm>
          <a:prstGeom prst="rect">
            <a:avLst/>
          </a:prstGeom>
          <a:noFill/>
        </p:spPr>
        <p:txBody>
          <a:bodyPr wrap="square" rtlCol="0">
            <a:spAutoFit/>
          </a:bodyPr>
          <a:lstStyle/>
          <a:p>
            <a:r>
              <a:rPr lang="en-US" b="1" i="1" dirty="0" smtClean="0"/>
              <a:t>The proposed solution delivers a scalable, explainable, and production-ready data science framework for industrial equipment monitoring across multiple vendors.</a:t>
            </a:r>
            <a:endParaRPr lang="en-IN" b="1" i="1" dirty="0"/>
          </a:p>
        </p:txBody>
      </p:sp>
    </p:spTree>
    <p:extLst>
      <p:ext uri="{BB962C8B-B14F-4D97-AF65-F5344CB8AC3E}">
        <p14:creationId xmlns:p14="http://schemas.microsoft.com/office/powerpoint/2010/main" val="2199150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38977" y="146184"/>
            <a:ext cx="3592132" cy="433365"/>
          </a:xfrm>
        </p:spPr>
        <p:txBody>
          <a:bodyPr>
            <a:normAutofit/>
          </a:bodyPr>
          <a:lstStyle/>
          <a:p>
            <a:r>
              <a:rPr lang="en-IN" sz="2400" b="1" dirty="0" smtClean="0">
                <a:solidFill>
                  <a:schemeClr val="accent5">
                    <a:lumMod val="50000"/>
                  </a:schemeClr>
                </a:solidFill>
                <a:latin typeface="+mn-lt"/>
              </a:rPr>
              <a:t>Data Quality Challenges</a:t>
            </a:r>
            <a:endParaRPr lang="en-IN" sz="2400" b="1" dirty="0">
              <a:solidFill>
                <a:schemeClr val="accent5">
                  <a:lumMod val="50000"/>
                </a:schemeClr>
              </a:solidFill>
              <a:latin typeface="+mn-lt"/>
            </a:endParaRPr>
          </a:p>
        </p:txBody>
      </p:sp>
      <p:sp>
        <p:nvSpPr>
          <p:cNvPr id="3" name="Content Placeholder 2"/>
          <p:cNvSpPr>
            <a:spLocks noGrp="1"/>
          </p:cNvSpPr>
          <p:nvPr>
            <p:ph sz="half" idx="1"/>
          </p:nvPr>
        </p:nvSpPr>
        <p:spPr>
          <a:xfrm>
            <a:off x="760926" y="975619"/>
            <a:ext cx="5181600" cy="4351338"/>
          </a:xfrm>
        </p:spPr>
        <p:txBody>
          <a:bodyPr>
            <a:normAutofit lnSpcReduction="10000"/>
          </a:bodyPr>
          <a:lstStyle/>
          <a:p>
            <a:pPr marL="0" indent="0">
              <a:buNone/>
            </a:pPr>
            <a:r>
              <a:rPr lang="en-IN" sz="1800" b="1" dirty="0" smtClean="0"/>
              <a:t>Challenges Identified</a:t>
            </a:r>
            <a:br>
              <a:rPr lang="en-IN" sz="1800" b="1" dirty="0" smtClean="0"/>
            </a:br>
            <a:r>
              <a:rPr lang="en-IN" sz="1800" b="1" dirty="0" smtClean="0"/>
              <a:t/>
            </a:r>
            <a:br>
              <a:rPr lang="en-IN" sz="1800" b="1" dirty="0" smtClean="0"/>
            </a:br>
            <a:r>
              <a:rPr lang="en-IN" sz="1800" dirty="0" smtClean="0"/>
              <a:t>✓ Missing sensor readings</a:t>
            </a:r>
          </a:p>
          <a:p>
            <a:pPr marL="0" indent="0">
              <a:buNone/>
            </a:pPr>
            <a:endParaRPr lang="en-IN" sz="1800" dirty="0" smtClean="0"/>
          </a:p>
          <a:p>
            <a:pPr marL="0" indent="0">
              <a:buNone/>
            </a:pPr>
            <a:r>
              <a:rPr lang="en-IN" sz="1800" dirty="0" smtClean="0"/>
              <a:t>✓ Different machine identifiers</a:t>
            </a:r>
          </a:p>
          <a:p>
            <a:pPr marL="0" indent="0">
              <a:buNone/>
            </a:pPr>
            <a:endParaRPr lang="en-IN" sz="1800" dirty="0" smtClean="0"/>
          </a:p>
          <a:p>
            <a:pPr marL="0" indent="0">
              <a:buNone/>
            </a:pPr>
            <a:r>
              <a:rPr lang="en-IN" sz="1800" dirty="0" smtClean="0"/>
              <a:t>✓ Multiple timestamp formats</a:t>
            </a:r>
          </a:p>
          <a:p>
            <a:pPr marL="0" indent="0">
              <a:buNone/>
            </a:pPr>
            <a:endParaRPr lang="en-IN" sz="1800" dirty="0" smtClean="0"/>
          </a:p>
          <a:p>
            <a:pPr marL="0" indent="0">
              <a:buNone/>
            </a:pPr>
            <a:r>
              <a:rPr lang="en-IN" sz="1800" dirty="0" smtClean="0"/>
              <a:t>✓ Different measurement units</a:t>
            </a:r>
          </a:p>
          <a:p>
            <a:pPr marL="0" indent="0">
              <a:buNone/>
            </a:pPr>
            <a:endParaRPr lang="en-IN" sz="1800" dirty="0" smtClean="0"/>
          </a:p>
          <a:p>
            <a:pPr marL="0" indent="0">
              <a:buNone/>
            </a:pPr>
            <a:r>
              <a:rPr lang="en-IN" sz="1800" dirty="0" smtClean="0"/>
              <a:t>✓ Duplicate records</a:t>
            </a:r>
          </a:p>
          <a:p>
            <a:pPr marL="0" indent="0">
              <a:buNone/>
            </a:pPr>
            <a:endParaRPr lang="en-IN" sz="1800" dirty="0" smtClean="0"/>
          </a:p>
          <a:p>
            <a:pPr marL="0" indent="0">
              <a:buNone/>
            </a:pPr>
            <a:r>
              <a:rPr lang="en-IN" sz="1800" dirty="0" smtClean="0"/>
              <a:t>✓ Free-text inspection notes</a:t>
            </a:r>
            <a:endParaRPr lang="en-IN" sz="1800" dirty="0"/>
          </a:p>
        </p:txBody>
      </p:sp>
      <p:sp>
        <p:nvSpPr>
          <p:cNvPr id="4" name="Content Placeholder 3"/>
          <p:cNvSpPr>
            <a:spLocks noGrp="1"/>
          </p:cNvSpPr>
          <p:nvPr>
            <p:ph sz="half" idx="2"/>
          </p:nvPr>
        </p:nvSpPr>
        <p:spPr>
          <a:xfrm>
            <a:off x="6210837" y="975619"/>
            <a:ext cx="5181600" cy="4351338"/>
          </a:xfrm>
        </p:spPr>
        <p:txBody>
          <a:bodyPr>
            <a:normAutofit lnSpcReduction="10000"/>
          </a:bodyPr>
          <a:lstStyle/>
          <a:p>
            <a:pPr marL="0" indent="0">
              <a:buNone/>
            </a:pPr>
            <a:r>
              <a:rPr lang="en-IN" sz="1800" b="1" dirty="0" smtClean="0"/>
              <a:t>Business Impact</a:t>
            </a:r>
            <a:r>
              <a:rPr lang="en-IN" sz="1800" dirty="0" smtClean="0"/>
              <a:t/>
            </a:r>
            <a:br>
              <a:rPr lang="en-IN" sz="1800" dirty="0" smtClean="0"/>
            </a:br>
            <a:r>
              <a:rPr lang="en-IN" sz="1800" dirty="0" smtClean="0"/>
              <a:t/>
            </a:r>
            <a:br>
              <a:rPr lang="en-IN" sz="1800" dirty="0" smtClean="0"/>
            </a:br>
            <a:r>
              <a:rPr lang="en-US" sz="1800" dirty="0" smtClean="0"/>
              <a:t>✓ Incorrect machine health score</a:t>
            </a:r>
          </a:p>
          <a:p>
            <a:pPr marL="0" indent="0">
              <a:buNone/>
            </a:pPr>
            <a:endParaRPr lang="en-US" sz="1800" dirty="0" smtClean="0"/>
          </a:p>
          <a:p>
            <a:pPr marL="0" indent="0">
              <a:buNone/>
            </a:pPr>
            <a:r>
              <a:rPr lang="en-US" sz="1800" dirty="0" smtClean="0"/>
              <a:t>✓ Failed dataset joins</a:t>
            </a:r>
          </a:p>
          <a:p>
            <a:pPr marL="0" indent="0">
              <a:buNone/>
            </a:pPr>
            <a:endParaRPr lang="en-US" sz="1800" dirty="0" smtClean="0"/>
          </a:p>
          <a:p>
            <a:pPr marL="0" indent="0">
              <a:buNone/>
            </a:pPr>
            <a:r>
              <a:rPr lang="en-US" sz="1800" dirty="0" smtClean="0"/>
              <a:t>✓ Inconsistent reporting</a:t>
            </a:r>
          </a:p>
          <a:p>
            <a:pPr marL="0" indent="0">
              <a:buNone/>
            </a:pPr>
            <a:endParaRPr lang="en-US" sz="1800" dirty="0" smtClean="0"/>
          </a:p>
          <a:p>
            <a:pPr marL="0" indent="0">
              <a:buNone/>
            </a:pPr>
            <a:r>
              <a:rPr lang="en-US" sz="1800" dirty="0" smtClean="0"/>
              <a:t>✓ Reduced prediction reliability</a:t>
            </a:r>
          </a:p>
          <a:p>
            <a:pPr marL="0" indent="0">
              <a:buNone/>
            </a:pPr>
            <a:endParaRPr lang="en-US" sz="1800" dirty="0" smtClean="0"/>
          </a:p>
          <a:p>
            <a:pPr marL="0" indent="0">
              <a:buNone/>
            </a:pPr>
            <a:r>
              <a:rPr lang="en-US" sz="1800" dirty="0" smtClean="0"/>
              <a:t>✓ Difficult cross-vendor comparison</a:t>
            </a:r>
          </a:p>
          <a:p>
            <a:pPr marL="0" indent="0">
              <a:buNone/>
            </a:pPr>
            <a:endParaRPr lang="en-US" sz="1800" dirty="0" smtClean="0"/>
          </a:p>
          <a:p>
            <a:pPr marL="0" indent="0">
              <a:buNone/>
            </a:pPr>
            <a:r>
              <a:rPr lang="en-US" sz="1800" dirty="0" smtClean="0"/>
              <a:t>✓ Increased manual effort</a:t>
            </a:r>
            <a:endParaRPr lang="en-IN" sz="1800" dirty="0"/>
          </a:p>
        </p:txBody>
      </p:sp>
      <p:sp>
        <p:nvSpPr>
          <p:cNvPr id="6" name="TextBox 5"/>
          <p:cNvSpPr txBox="1"/>
          <p:nvPr/>
        </p:nvSpPr>
        <p:spPr>
          <a:xfrm>
            <a:off x="1906609" y="5538361"/>
            <a:ext cx="7456868" cy="369332"/>
          </a:xfrm>
          <a:prstGeom prst="rect">
            <a:avLst/>
          </a:prstGeom>
          <a:noFill/>
        </p:spPr>
        <p:txBody>
          <a:bodyPr wrap="square" rtlCol="0">
            <a:spAutoFit/>
          </a:bodyPr>
          <a:lstStyle/>
          <a:p>
            <a:r>
              <a:rPr lang="en-US" b="1" i="1" dirty="0" smtClean="0"/>
              <a:t>Data quality validation is mandatory before scoring or machine learning</a:t>
            </a:r>
            <a:r>
              <a:rPr lang="en-US" dirty="0" smtClean="0"/>
              <a:t>.</a:t>
            </a:r>
            <a:endParaRPr lang="en-IN" dirty="0"/>
          </a:p>
        </p:txBody>
      </p:sp>
    </p:spTree>
    <p:extLst>
      <p:ext uri="{BB962C8B-B14F-4D97-AF65-F5344CB8AC3E}">
        <p14:creationId xmlns:p14="http://schemas.microsoft.com/office/powerpoint/2010/main" val="942697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2248" y="133305"/>
            <a:ext cx="3365679" cy="433365"/>
          </a:xfrm>
        </p:spPr>
        <p:txBody>
          <a:bodyPr>
            <a:normAutofit fontScale="90000"/>
          </a:bodyPr>
          <a:lstStyle/>
          <a:p>
            <a:r>
              <a:rPr lang="en-IN" sz="2400" b="1" dirty="0" smtClean="0">
                <a:solidFill>
                  <a:schemeClr val="accent5">
                    <a:lumMod val="50000"/>
                  </a:schemeClr>
                </a:solidFill>
                <a:latin typeface="+mn-lt"/>
              </a:rPr>
              <a:t>Data Normalization Rules</a:t>
            </a:r>
            <a:endParaRPr lang="en-IN" sz="2400" b="1" dirty="0">
              <a:solidFill>
                <a:schemeClr val="accent5">
                  <a:lumMod val="50000"/>
                </a:schemeClr>
              </a:solidFill>
              <a:latin typeface="+mn-lt"/>
            </a:endParaRP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881607023"/>
              </p:ext>
            </p:extLst>
          </p:nvPr>
        </p:nvGraphicFramePr>
        <p:xfrm>
          <a:off x="889715" y="949862"/>
          <a:ext cx="10515600" cy="2595880"/>
        </p:xfrm>
        <a:graphic>
          <a:graphicData uri="http://schemas.openxmlformats.org/drawingml/2006/table">
            <a:tbl>
              <a:tblPr firstRow="1" bandRow="1">
                <a:tableStyleId>{5C22544A-7EE6-4342-B048-85BDC9FD1C3A}</a:tableStyleId>
              </a:tblPr>
              <a:tblGrid>
                <a:gridCol w="5257800"/>
                <a:gridCol w="5257800"/>
              </a:tblGrid>
              <a:tr h="370840">
                <a:tc>
                  <a:txBody>
                    <a:bodyPr/>
                    <a:lstStyle/>
                    <a:p>
                      <a:r>
                        <a:rPr lang="en-IN" dirty="0" smtClean="0"/>
                        <a:t>Data Issue</a:t>
                      </a:r>
                      <a:endParaRPr lang="en-IN" dirty="0"/>
                    </a:p>
                  </a:txBody>
                  <a:tcPr/>
                </a:tc>
                <a:tc>
                  <a:txBody>
                    <a:bodyPr/>
                    <a:lstStyle/>
                    <a:p>
                      <a:r>
                        <a:rPr lang="en-IN" dirty="0" smtClean="0"/>
                        <a:t>Normalization Rule</a:t>
                      </a:r>
                      <a:endParaRPr lang="en-IN" dirty="0"/>
                    </a:p>
                  </a:txBody>
                  <a:tcPr/>
                </a:tc>
              </a:tr>
              <a:tr h="370840">
                <a:tc>
                  <a:txBody>
                    <a:bodyPr/>
                    <a:lstStyle/>
                    <a:p>
                      <a:r>
                        <a:rPr lang="en-IN" dirty="0" smtClean="0"/>
                        <a:t>Temperature (°F)</a:t>
                      </a:r>
                      <a:endParaRPr lang="en-IN" dirty="0"/>
                    </a:p>
                  </a:txBody>
                  <a:tcPr/>
                </a:tc>
                <a:tc>
                  <a:txBody>
                    <a:bodyPr/>
                    <a:lstStyle/>
                    <a:p>
                      <a:r>
                        <a:rPr lang="en-IN" dirty="0" smtClean="0"/>
                        <a:t>Convert to Celsius (°C)</a:t>
                      </a:r>
                      <a:endParaRPr lang="en-IN" dirty="0"/>
                    </a:p>
                  </a:txBody>
                  <a:tcPr/>
                </a:tc>
              </a:tr>
              <a:tr h="370840">
                <a:tc>
                  <a:txBody>
                    <a:bodyPr/>
                    <a:lstStyle/>
                    <a:p>
                      <a:r>
                        <a:rPr lang="en-IN" dirty="0" smtClean="0"/>
                        <a:t>Epoch Timestamp</a:t>
                      </a:r>
                      <a:endParaRPr lang="en-IN" dirty="0"/>
                    </a:p>
                  </a:txBody>
                  <a:tcPr/>
                </a:tc>
                <a:tc>
                  <a:txBody>
                    <a:bodyPr/>
                    <a:lstStyle/>
                    <a:p>
                      <a:r>
                        <a:rPr lang="en-IN" dirty="0" smtClean="0"/>
                        <a:t>Convert to UTC Timestamp</a:t>
                      </a:r>
                      <a:endParaRPr lang="en-IN" dirty="0"/>
                    </a:p>
                  </a:txBody>
                  <a:tcPr/>
                </a:tc>
              </a:tr>
              <a:tr h="370840">
                <a:tc>
                  <a:txBody>
                    <a:bodyPr/>
                    <a:lstStyle/>
                    <a:p>
                      <a:r>
                        <a:rPr lang="en-IN" dirty="0" err="1" smtClean="0"/>
                        <a:t>assetCode</a:t>
                      </a:r>
                      <a:r>
                        <a:rPr lang="en-IN" dirty="0" smtClean="0"/>
                        <a:t> → </a:t>
                      </a:r>
                      <a:r>
                        <a:rPr lang="en-IN" dirty="0" err="1" smtClean="0"/>
                        <a:t>machine_id</a:t>
                      </a:r>
                      <a:endParaRPr lang="en-IN" dirty="0"/>
                    </a:p>
                  </a:txBody>
                  <a:tcPr/>
                </a:tc>
                <a:tc>
                  <a:txBody>
                    <a:bodyPr/>
                    <a:lstStyle/>
                    <a:p>
                      <a:r>
                        <a:rPr lang="en-IN" dirty="0" smtClean="0"/>
                        <a:t>Map to </a:t>
                      </a:r>
                      <a:r>
                        <a:rPr lang="en-IN" dirty="0" err="1" smtClean="0"/>
                        <a:t>machine_id</a:t>
                      </a:r>
                      <a:endParaRPr lang="en-IN" dirty="0"/>
                    </a:p>
                  </a:txBody>
                  <a:tcPr/>
                </a:tc>
              </a:tr>
              <a:tr h="370840">
                <a:tc>
                  <a:txBody>
                    <a:bodyPr/>
                    <a:lstStyle/>
                    <a:p>
                      <a:r>
                        <a:rPr lang="en-IN" dirty="0" smtClean="0"/>
                        <a:t>Alert Severity (Text)</a:t>
                      </a:r>
                      <a:endParaRPr lang="en-IN" dirty="0"/>
                    </a:p>
                  </a:txBody>
                  <a:tcPr/>
                </a:tc>
                <a:tc>
                  <a:txBody>
                    <a:bodyPr/>
                    <a:lstStyle/>
                    <a:p>
                      <a:r>
                        <a:rPr lang="en-US" dirty="0" smtClean="0"/>
                        <a:t>Convert to Numeric Severity (1–5)</a:t>
                      </a:r>
                      <a:endParaRPr lang="en-IN" dirty="0"/>
                    </a:p>
                  </a:txBody>
                  <a:tcPr/>
                </a:tc>
              </a:tr>
              <a:tr h="370840">
                <a:tc>
                  <a:txBody>
                    <a:bodyPr/>
                    <a:lstStyle/>
                    <a:p>
                      <a:r>
                        <a:rPr lang="en-IN" dirty="0" smtClean="0"/>
                        <a:t>Different Vendor Schemas</a:t>
                      </a:r>
                      <a:endParaRPr lang="en-IN" dirty="0"/>
                    </a:p>
                  </a:txBody>
                  <a:tcPr/>
                </a:tc>
                <a:tc>
                  <a:txBody>
                    <a:bodyPr/>
                    <a:lstStyle/>
                    <a:p>
                      <a:r>
                        <a:rPr lang="en-US" dirty="0" smtClean="0"/>
                        <a:t>Map to Common Standard Schema</a:t>
                      </a:r>
                      <a:endParaRPr lang="en-IN" dirty="0"/>
                    </a:p>
                  </a:txBody>
                  <a:tcPr/>
                </a:tc>
              </a:tr>
              <a:tr h="370840">
                <a:tc>
                  <a:txBody>
                    <a:bodyPr/>
                    <a:lstStyle/>
                    <a:p>
                      <a:r>
                        <a:rPr lang="en-IN" dirty="0" smtClean="0"/>
                        <a:t>Free-text Inspection Notes</a:t>
                      </a:r>
                      <a:endParaRPr lang="en-IN" dirty="0"/>
                    </a:p>
                  </a:txBody>
                  <a:tcPr/>
                </a:tc>
                <a:tc>
                  <a:txBody>
                    <a:bodyPr/>
                    <a:lstStyle/>
                    <a:p>
                      <a:r>
                        <a:rPr lang="en-IN" dirty="0" smtClean="0"/>
                        <a:t>Standardize using predefined categories</a:t>
                      </a:r>
                      <a:endParaRPr lang="en-IN" dirty="0"/>
                    </a:p>
                  </a:txBody>
                  <a:tcPr/>
                </a:tc>
              </a:tr>
            </a:tbl>
          </a:graphicData>
        </a:graphic>
      </p:graphicFrame>
      <p:sp>
        <p:nvSpPr>
          <p:cNvPr id="5" name="TextBox 4"/>
          <p:cNvSpPr txBox="1"/>
          <p:nvPr/>
        </p:nvSpPr>
        <p:spPr>
          <a:xfrm>
            <a:off x="1120462" y="4224270"/>
            <a:ext cx="9903853" cy="646331"/>
          </a:xfrm>
          <a:prstGeom prst="rect">
            <a:avLst/>
          </a:prstGeom>
          <a:noFill/>
        </p:spPr>
        <p:txBody>
          <a:bodyPr wrap="square" rtlCol="0">
            <a:spAutoFit/>
          </a:bodyPr>
          <a:lstStyle/>
          <a:p>
            <a:r>
              <a:rPr lang="en-US" b="1" i="1" dirty="0" smtClean="0"/>
              <a:t>All vendor datasets are transformed into a common machine-level schema before feature engineering and scoring.</a:t>
            </a:r>
            <a:endParaRPr lang="en-IN" b="1" i="1" dirty="0"/>
          </a:p>
        </p:txBody>
      </p:sp>
    </p:spTree>
    <p:extLst>
      <p:ext uri="{BB962C8B-B14F-4D97-AF65-F5344CB8AC3E}">
        <p14:creationId xmlns:p14="http://schemas.microsoft.com/office/powerpoint/2010/main" val="7051724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86707" y="210579"/>
            <a:ext cx="4998236" cy="356092"/>
          </a:xfrm>
        </p:spPr>
        <p:txBody>
          <a:bodyPr>
            <a:noAutofit/>
          </a:bodyPr>
          <a:lstStyle/>
          <a:p>
            <a:r>
              <a:rPr lang="en-IN" sz="2400" b="1" dirty="0" smtClean="0">
                <a:solidFill>
                  <a:schemeClr val="accent5">
                    <a:lumMod val="50000"/>
                  </a:schemeClr>
                </a:solidFill>
                <a:latin typeface="+mn-lt"/>
              </a:rPr>
              <a:t>Design Assumptions &amp; Key Decisions</a:t>
            </a:r>
            <a:endParaRPr lang="en-IN" sz="2400" b="1" dirty="0">
              <a:solidFill>
                <a:schemeClr val="accent5">
                  <a:lumMod val="50000"/>
                </a:schemeClr>
              </a:solidFill>
              <a:latin typeface="+mn-lt"/>
            </a:endParaRPr>
          </a:p>
        </p:txBody>
      </p:sp>
      <p:sp>
        <p:nvSpPr>
          <p:cNvPr id="3" name="Content Placeholder 2"/>
          <p:cNvSpPr>
            <a:spLocks noGrp="1"/>
          </p:cNvSpPr>
          <p:nvPr>
            <p:ph sz="half" idx="1"/>
          </p:nvPr>
        </p:nvSpPr>
        <p:spPr>
          <a:xfrm>
            <a:off x="990600" y="1014256"/>
            <a:ext cx="5181600" cy="4351338"/>
          </a:xfrm>
        </p:spPr>
        <p:txBody>
          <a:bodyPr>
            <a:normAutofit/>
          </a:bodyPr>
          <a:lstStyle/>
          <a:p>
            <a:pPr marL="0" indent="0">
              <a:buNone/>
            </a:pPr>
            <a:r>
              <a:rPr lang="en-IN" sz="1800" b="1" dirty="0" smtClean="0"/>
              <a:t>Design Assumptions</a:t>
            </a:r>
            <a:br>
              <a:rPr lang="en-IN" sz="1800" b="1" dirty="0" smtClean="0"/>
            </a:br>
            <a:r>
              <a:rPr lang="en-IN" sz="1800" b="1" dirty="0" smtClean="0"/>
              <a:t/>
            </a:r>
            <a:br>
              <a:rPr lang="en-IN" sz="1800" b="1" dirty="0" smtClean="0"/>
            </a:br>
            <a:r>
              <a:rPr lang="en-US" sz="1800" dirty="0" smtClean="0"/>
              <a:t>✓ </a:t>
            </a:r>
            <a:r>
              <a:rPr lang="en-US" sz="1800" dirty="0" err="1" smtClean="0"/>
              <a:t>machine_id</a:t>
            </a:r>
            <a:r>
              <a:rPr lang="en-US" sz="1800" dirty="0" smtClean="0"/>
              <a:t> is the primary unique identifier</a:t>
            </a:r>
          </a:p>
          <a:p>
            <a:pPr marL="0" indent="0">
              <a:buNone/>
            </a:pPr>
            <a:endParaRPr lang="en-US" sz="1800" dirty="0" smtClean="0"/>
          </a:p>
          <a:p>
            <a:pPr marL="0" indent="0">
              <a:buNone/>
            </a:pPr>
            <a:r>
              <a:rPr lang="en-US" sz="1800" dirty="0" smtClean="0"/>
              <a:t>✓ Asset Master is the source of truth</a:t>
            </a:r>
          </a:p>
          <a:p>
            <a:pPr marL="0" indent="0">
              <a:buNone/>
            </a:pPr>
            <a:endParaRPr lang="en-US" sz="1800" dirty="0" smtClean="0"/>
          </a:p>
          <a:p>
            <a:pPr marL="0" indent="0">
              <a:buNone/>
            </a:pPr>
            <a:r>
              <a:rPr lang="en-US" sz="1800" dirty="0" smtClean="0"/>
              <a:t>✓ Missing values are validated before scoring</a:t>
            </a:r>
          </a:p>
          <a:p>
            <a:pPr marL="0" indent="0">
              <a:buNone/>
            </a:pPr>
            <a:endParaRPr lang="en-US" sz="1800" dirty="0" smtClean="0"/>
          </a:p>
          <a:p>
            <a:pPr marL="0" indent="0">
              <a:buNone/>
            </a:pPr>
            <a:r>
              <a:rPr lang="en-US" sz="1800" dirty="0" smtClean="0"/>
              <a:t>✓ Vendor data may arrive at different frequencies</a:t>
            </a:r>
          </a:p>
          <a:p>
            <a:pPr marL="0" indent="0">
              <a:buNone/>
            </a:pPr>
            <a:endParaRPr lang="en-US" sz="1800" dirty="0" smtClean="0"/>
          </a:p>
          <a:p>
            <a:pPr marL="0" indent="0">
              <a:buNone/>
            </a:pPr>
            <a:r>
              <a:rPr lang="en-US" sz="1800" dirty="0" smtClean="0"/>
              <a:t>✓ Scores are recalculated after every successful data ingestion</a:t>
            </a:r>
            <a:endParaRPr lang="en-IN" sz="1800" dirty="0"/>
          </a:p>
        </p:txBody>
      </p:sp>
      <p:sp>
        <p:nvSpPr>
          <p:cNvPr id="4" name="Content Placeholder 3"/>
          <p:cNvSpPr>
            <a:spLocks noGrp="1"/>
          </p:cNvSpPr>
          <p:nvPr>
            <p:ph sz="half" idx="2"/>
          </p:nvPr>
        </p:nvSpPr>
        <p:spPr>
          <a:xfrm>
            <a:off x="6172200" y="1014256"/>
            <a:ext cx="5181600" cy="3956989"/>
          </a:xfrm>
        </p:spPr>
        <p:txBody>
          <a:bodyPr>
            <a:normAutofit/>
          </a:bodyPr>
          <a:lstStyle/>
          <a:p>
            <a:pPr marL="0" indent="0">
              <a:buNone/>
            </a:pPr>
            <a:r>
              <a:rPr lang="en-IN" sz="1800" b="1" dirty="0" smtClean="0"/>
              <a:t>Key Design Decisions</a:t>
            </a:r>
            <a:br>
              <a:rPr lang="en-IN" sz="1800" b="1" dirty="0" smtClean="0"/>
            </a:br>
            <a:r>
              <a:rPr lang="en-IN" sz="1800" b="1" dirty="0" smtClean="0"/>
              <a:t/>
            </a:r>
            <a:br>
              <a:rPr lang="en-IN" sz="1800" b="1" dirty="0" smtClean="0"/>
            </a:br>
            <a:r>
              <a:rPr lang="en-IN" sz="1800" dirty="0" smtClean="0"/>
              <a:t>✓ Explainable rule-based scoring for transparency</a:t>
            </a:r>
          </a:p>
          <a:p>
            <a:pPr marL="0" indent="0">
              <a:buNone/>
            </a:pPr>
            <a:endParaRPr lang="en-IN" sz="1800" dirty="0" smtClean="0"/>
          </a:p>
          <a:p>
            <a:pPr marL="0" indent="0">
              <a:buNone/>
            </a:pPr>
            <a:r>
              <a:rPr lang="en-IN" sz="1800" dirty="0" smtClean="0"/>
              <a:t>✓ Common normalized schema across all vendors</a:t>
            </a:r>
          </a:p>
          <a:p>
            <a:pPr marL="0" indent="0">
              <a:buNone/>
            </a:pPr>
            <a:endParaRPr lang="en-IN" sz="1800" dirty="0" smtClean="0"/>
          </a:p>
          <a:p>
            <a:pPr marL="0" indent="0">
              <a:buNone/>
            </a:pPr>
            <a:r>
              <a:rPr lang="en-IN" sz="1800" dirty="0" smtClean="0"/>
              <a:t>✓ Modular API-based architecture</a:t>
            </a:r>
          </a:p>
          <a:p>
            <a:pPr marL="0" indent="0">
              <a:buNone/>
            </a:pPr>
            <a:endParaRPr lang="en-IN" sz="1800" dirty="0" smtClean="0"/>
          </a:p>
          <a:p>
            <a:pPr marL="0" indent="0">
              <a:buNone/>
            </a:pPr>
            <a:r>
              <a:rPr lang="en-IN" sz="1800" dirty="0" smtClean="0"/>
              <a:t>✓ ML introduced only after sufficient </a:t>
            </a:r>
            <a:r>
              <a:rPr lang="en-IN" sz="1800" dirty="0" err="1" smtClean="0"/>
              <a:t>labeled</a:t>
            </a:r>
            <a:r>
              <a:rPr lang="en-IN" sz="1800" dirty="0" smtClean="0"/>
              <a:t> data</a:t>
            </a:r>
          </a:p>
          <a:p>
            <a:pPr marL="0" indent="0">
              <a:buNone/>
            </a:pPr>
            <a:endParaRPr lang="en-IN" sz="1800" dirty="0" smtClean="0"/>
          </a:p>
          <a:p>
            <a:pPr marL="0" indent="0">
              <a:buNone/>
            </a:pPr>
            <a:r>
              <a:rPr lang="en-IN" sz="1800" dirty="0" smtClean="0"/>
              <a:t>✓ </a:t>
            </a:r>
            <a:r>
              <a:rPr lang="en-US" sz="1800" dirty="0" smtClean="0"/>
              <a:t>Versioned scoring to support future enhancements</a:t>
            </a:r>
            <a:endParaRPr lang="en-IN" sz="1800" dirty="0"/>
          </a:p>
        </p:txBody>
      </p:sp>
      <p:sp>
        <p:nvSpPr>
          <p:cNvPr id="5" name="TextBox 4"/>
          <p:cNvSpPr txBox="1"/>
          <p:nvPr/>
        </p:nvSpPr>
        <p:spPr>
          <a:xfrm>
            <a:off x="1407017" y="5273343"/>
            <a:ext cx="9530366" cy="646331"/>
          </a:xfrm>
          <a:prstGeom prst="rect">
            <a:avLst/>
          </a:prstGeom>
          <a:noFill/>
        </p:spPr>
        <p:txBody>
          <a:bodyPr wrap="square" rtlCol="0">
            <a:spAutoFit/>
          </a:bodyPr>
          <a:lstStyle/>
          <a:p>
            <a:r>
              <a:rPr lang="en-US" b="1" i="1" dirty="0" smtClean="0"/>
              <a:t>The solution prioritizes </a:t>
            </a:r>
            <a:r>
              <a:rPr lang="en-US" b="1" i="1" dirty="0" err="1" smtClean="0"/>
              <a:t>explainability</a:t>
            </a:r>
            <a:r>
              <a:rPr lang="en-US" b="1" i="1" dirty="0" smtClean="0"/>
              <a:t>, scalability, and maintainability while remaining ready for future machine learning integration.</a:t>
            </a:r>
            <a:endParaRPr lang="en-IN" b="1" i="1" dirty="0"/>
          </a:p>
        </p:txBody>
      </p:sp>
    </p:spTree>
    <p:extLst>
      <p:ext uri="{BB962C8B-B14F-4D97-AF65-F5344CB8AC3E}">
        <p14:creationId xmlns:p14="http://schemas.microsoft.com/office/powerpoint/2010/main" val="29141778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0080" y="197701"/>
            <a:ext cx="5111840" cy="510638"/>
          </a:xfrm>
        </p:spPr>
        <p:txBody>
          <a:bodyPr>
            <a:normAutofit fontScale="90000"/>
          </a:bodyPr>
          <a:lstStyle/>
          <a:p>
            <a:r>
              <a:rPr lang="en-IN" sz="2400" b="1" dirty="0" smtClean="0">
                <a:solidFill>
                  <a:schemeClr val="accent5">
                    <a:lumMod val="50000"/>
                  </a:schemeClr>
                </a:solidFill>
                <a:latin typeface="+mn-lt"/>
              </a:rPr>
              <a:t>Sample Machine Output (API Response)</a:t>
            </a:r>
            <a:endParaRPr lang="en-IN" sz="2400" b="1" dirty="0">
              <a:solidFill>
                <a:schemeClr val="accent5">
                  <a:lumMod val="50000"/>
                </a:schemeClr>
              </a:solidFill>
              <a:latin typeface="+mn-lt"/>
            </a:endParaRPr>
          </a:p>
        </p:txBody>
      </p:sp>
      <p:sp>
        <p:nvSpPr>
          <p:cNvPr id="3" name="Content Placeholder 2"/>
          <p:cNvSpPr>
            <a:spLocks noGrp="1"/>
          </p:cNvSpPr>
          <p:nvPr>
            <p:ph idx="1"/>
          </p:nvPr>
        </p:nvSpPr>
        <p:spPr>
          <a:xfrm>
            <a:off x="838200" y="708339"/>
            <a:ext cx="10515600" cy="5637586"/>
          </a:xfrm>
        </p:spPr>
        <p:txBody>
          <a:bodyPr>
            <a:noAutofit/>
          </a:bodyPr>
          <a:lstStyle/>
          <a:p>
            <a:pPr marL="0" indent="0">
              <a:buNone/>
            </a:pPr>
            <a:r>
              <a:rPr lang="en-US" sz="1800" dirty="0" smtClean="0"/>
              <a:t>GET /</a:t>
            </a:r>
            <a:r>
              <a:rPr lang="en-US" sz="1800" dirty="0" err="1" smtClean="0"/>
              <a:t>api</a:t>
            </a:r>
            <a:r>
              <a:rPr lang="en-US" sz="1800" dirty="0" smtClean="0"/>
              <a:t>/v1/machines/{</a:t>
            </a:r>
            <a:r>
              <a:rPr lang="en-US" sz="1800" dirty="0" err="1" smtClean="0"/>
              <a:t>machine_id</a:t>
            </a:r>
            <a:r>
              <a:rPr lang="en-US" sz="1800" dirty="0" smtClean="0"/>
              <a:t>}/score</a:t>
            </a:r>
            <a:br>
              <a:rPr lang="en-US" sz="1800" dirty="0" smtClean="0"/>
            </a:br>
            <a:r>
              <a:rPr lang="en-US" sz="1800" dirty="0" smtClean="0"/>
              <a:t>{</a:t>
            </a:r>
          </a:p>
          <a:p>
            <a:pPr marL="0" indent="0">
              <a:buNone/>
            </a:pPr>
            <a:r>
              <a:rPr lang="en-US" sz="1800" dirty="0" smtClean="0"/>
              <a:t>  "</a:t>
            </a:r>
            <a:r>
              <a:rPr lang="en-US" sz="1800" dirty="0" err="1" smtClean="0"/>
              <a:t>machine_id</a:t>
            </a:r>
            <a:r>
              <a:rPr lang="en-US" sz="1800" dirty="0" smtClean="0"/>
              <a:t>": "MCH-001",</a:t>
            </a:r>
          </a:p>
          <a:p>
            <a:pPr marL="0" indent="0">
              <a:buNone/>
            </a:pPr>
            <a:r>
              <a:rPr lang="en-US" sz="1800" dirty="0" smtClean="0"/>
              <a:t>  "</a:t>
            </a:r>
            <a:r>
              <a:rPr lang="en-US" sz="1800" dirty="0" err="1" smtClean="0"/>
              <a:t>health_score</a:t>
            </a:r>
            <a:r>
              <a:rPr lang="en-US" sz="1800" dirty="0" smtClean="0"/>
              <a:t>": 86,</a:t>
            </a:r>
          </a:p>
          <a:p>
            <a:pPr marL="0" indent="0">
              <a:buNone/>
            </a:pPr>
            <a:r>
              <a:rPr lang="en-US" sz="1800" dirty="0" smtClean="0"/>
              <a:t>  "</a:t>
            </a:r>
            <a:r>
              <a:rPr lang="en-US" sz="1800" dirty="0" err="1" smtClean="0"/>
              <a:t>confidence_score</a:t>
            </a:r>
            <a:r>
              <a:rPr lang="en-US" sz="1800" dirty="0" smtClean="0"/>
              <a:t>": 92,</a:t>
            </a:r>
          </a:p>
          <a:p>
            <a:pPr marL="0" indent="0">
              <a:buNone/>
            </a:pPr>
            <a:r>
              <a:rPr lang="en-US" sz="1800" dirty="0" smtClean="0"/>
              <a:t>  "</a:t>
            </a:r>
            <a:r>
              <a:rPr lang="en-US" sz="1800" dirty="0" err="1" smtClean="0"/>
              <a:t>readiness_score</a:t>
            </a:r>
            <a:r>
              <a:rPr lang="en-US" sz="1800" dirty="0" smtClean="0"/>
              <a:t>": 84,</a:t>
            </a:r>
          </a:p>
          <a:p>
            <a:pPr marL="0" indent="0">
              <a:buNone/>
            </a:pPr>
            <a:r>
              <a:rPr lang="en-US" sz="1800" dirty="0" smtClean="0"/>
              <a:t>  "status": "Healthy",</a:t>
            </a:r>
          </a:p>
          <a:p>
            <a:pPr marL="0" indent="0">
              <a:buNone/>
            </a:pPr>
            <a:r>
              <a:rPr lang="en-US" sz="1800" dirty="0" smtClean="0"/>
              <a:t>  "</a:t>
            </a:r>
            <a:r>
              <a:rPr lang="en-US" sz="1800" dirty="0" err="1" smtClean="0"/>
              <a:t>reason_codes</a:t>
            </a:r>
            <a:r>
              <a:rPr lang="en-US" sz="1800" dirty="0" smtClean="0"/>
              <a:t>": [</a:t>
            </a:r>
          </a:p>
          <a:p>
            <a:pPr marL="0" indent="0">
              <a:buNone/>
            </a:pPr>
            <a:r>
              <a:rPr lang="en-US" sz="1800" dirty="0" smtClean="0"/>
              <a:t>    "Temperature within threshold",</a:t>
            </a:r>
          </a:p>
          <a:p>
            <a:pPr marL="0" indent="0">
              <a:buNone/>
            </a:pPr>
            <a:r>
              <a:rPr lang="en-US" sz="1800" dirty="0" smtClean="0"/>
              <a:t>    "Recent maintenance completed",</a:t>
            </a:r>
          </a:p>
          <a:p>
            <a:pPr marL="0" indent="0">
              <a:buNone/>
            </a:pPr>
            <a:r>
              <a:rPr lang="en-US" sz="1800" dirty="0" smtClean="0"/>
              <a:t>    "No critical alerts detected"</a:t>
            </a:r>
          </a:p>
          <a:p>
            <a:pPr marL="0" indent="0">
              <a:buNone/>
            </a:pPr>
            <a:r>
              <a:rPr lang="en-US" sz="1800" dirty="0" smtClean="0"/>
              <a:t>  ],</a:t>
            </a:r>
          </a:p>
          <a:p>
            <a:pPr marL="0" indent="0">
              <a:buNone/>
            </a:pPr>
            <a:r>
              <a:rPr lang="en-US" sz="1800" dirty="0" smtClean="0"/>
              <a:t>  "last_updated":"2026-08-05T13:10:00Z",</a:t>
            </a:r>
          </a:p>
          <a:p>
            <a:pPr marL="0" indent="0">
              <a:buNone/>
            </a:pPr>
            <a:r>
              <a:rPr lang="en-US" sz="1800" dirty="0" smtClean="0"/>
              <a:t> "score_version":"1.0"</a:t>
            </a:r>
          </a:p>
          <a:p>
            <a:pPr marL="0" indent="0">
              <a:buNone/>
            </a:pPr>
            <a:r>
              <a:rPr lang="en-US" sz="1800" dirty="0" smtClean="0"/>
              <a:t>}</a:t>
            </a:r>
            <a:endParaRPr lang="en-IN" sz="1800" dirty="0"/>
          </a:p>
        </p:txBody>
      </p:sp>
      <p:sp>
        <p:nvSpPr>
          <p:cNvPr id="6" name="TextBox 5"/>
          <p:cNvSpPr txBox="1"/>
          <p:nvPr/>
        </p:nvSpPr>
        <p:spPr>
          <a:xfrm>
            <a:off x="1261281" y="6225033"/>
            <a:ext cx="9875293" cy="646331"/>
          </a:xfrm>
          <a:prstGeom prst="rect">
            <a:avLst/>
          </a:prstGeom>
          <a:noFill/>
        </p:spPr>
        <p:txBody>
          <a:bodyPr wrap="square" rtlCol="0">
            <a:spAutoFit/>
          </a:bodyPr>
          <a:lstStyle/>
          <a:p>
            <a:r>
              <a:rPr lang="en-US" b="1" i="1" dirty="0" smtClean="0"/>
              <a:t>The API provides explainable machine health insights with confidence, readiness, reason codes, and versioning to support reliable backend integration.</a:t>
            </a:r>
            <a:endParaRPr lang="en-IN" b="1" i="1" dirty="0"/>
          </a:p>
        </p:txBody>
      </p:sp>
    </p:spTree>
    <p:extLst>
      <p:ext uri="{BB962C8B-B14F-4D97-AF65-F5344CB8AC3E}">
        <p14:creationId xmlns:p14="http://schemas.microsoft.com/office/powerpoint/2010/main" val="15149979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TotalTime>
  <Words>739</Words>
  <Application>Microsoft Office PowerPoint</Application>
  <PresentationFormat>Widescreen</PresentationFormat>
  <Paragraphs>302</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 Unicode MS</vt:lpstr>
      <vt:lpstr>Arial</vt:lpstr>
      <vt:lpstr>Calibri</vt:lpstr>
      <vt:lpstr>Calibri Light</vt:lpstr>
      <vt:lpstr>Office Theme</vt:lpstr>
      <vt:lpstr>PowerPoint Presentation</vt:lpstr>
      <vt:lpstr>Problem Statement &amp; Objectives</vt:lpstr>
      <vt:lpstr>                                                 Vendor Data Assessment  Assessment of data quality, usability, transformation requirements, and integration challenges across all vendor datasets. Assessment of data quality, transformation requirements, join strategy, and integration challenges across all vendor datasets.</vt:lpstr>
      <vt:lpstr>PowerPoint Presentation</vt:lpstr>
      <vt:lpstr>Machine Health Score Design </vt:lpstr>
      <vt:lpstr>Confidence / Reliability Score</vt:lpstr>
      <vt:lpstr>Maturity / Readiness Score</vt:lpstr>
      <vt:lpstr>Feature Engineering &amp; Future ML</vt:lpstr>
      <vt:lpstr>Backend-Facing API Design</vt:lpstr>
      <vt:lpstr>PowerPoint Presentation</vt:lpstr>
      <vt:lpstr>Conclusion &amp; Future Roadmap</vt:lpstr>
      <vt:lpstr>Data Quality Challenges</vt:lpstr>
      <vt:lpstr>Data Normalization Rules</vt:lpstr>
      <vt:lpstr>Design Assumptions &amp; Key Decisions</vt:lpstr>
      <vt:lpstr>Sample Machine Output (API Response)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29</cp:revision>
  <dcterms:created xsi:type="dcterms:W3CDTF">2026-08-05T07:08:55Z</dcterms:created>
  <dcterms:modified xsi:type="dcterms:W3CDTF">2026-08-05T11:34:46Z</dcterms:modified>
</cp:coreProperties>
</file>